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9144000"/>
  <p:notesSz cx="6858000" cy="9144000"/>
  <p:embeddedFontLst>
    <p:embeddedFont>
      <p:font typeface="Arial Narrow"/>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4C0411A-2C98-4147-9FEC-7885B5909016}">
  <a:tblStyle styleId="{64C0411A-2C98-4147-9FEC-7885B590901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rialNarrow-bold.fntdata"/><Relationship Id="rId25" Type="http://schemas.openxmlformats.org/officeDocument/2006/relationships/font" Target="fonts/ArialNarrow-regular.fntdata"/><Relationship Id="rId28" Type="http://schemas.openxmlformats.org/officeDocument/2006/relationships/font" Target="fonts/ArialNarrow-boldItalic.fntdata"/><Relationship Id="rId27" Type="http://schemas.openxmlformats.org/officeDocument/2006/relationships/font" Target="fonts/ArialNarrow-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 name="Google Shape;2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 name="Google Shape;3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 name="Google Shape;4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 name="Google Shape;4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pic>
        <p:nvPicPr>
          <p:cNvPr descr="/mnt/data/syntax_assets/orig_p1.png" id="16" name="Google Shape;16;p3"/>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17" name="Google Shape;17;p3"/>
          <p:cNvSpPr/>
          <p:nvPr/>
        </p:nvSpPr>
        <p:spPr>
          <a:xfrm>
            <a:off x="655100" y="2446350"/>
            <a:ext cx="8014800" cy="1269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 name="Google Shape;18;p3"/>
          <p:cNvSpPr txBox="1"/>
          <p:nvPr/>
        </p:nvSpPr>
        <p:spPr>
          <a:xfrm>
            <a:off x="850800" y="2446350"/>
            <a:ext cx="7442400" cy="108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2500">
                <a:latin typeface="Times New Roman"/>
                <a:ea typeface="Times New Roman"/>
                <a:cs typeface="Times New Roman"/>
                <a:sym typeface="Times New Roman"/>
              </a:rPr>
              <a:t>SYNTAX: FULL-STACK QUIZ AND CODING</a:t>
            </a:r>
            <a:endParaRPr sz="2500">
              <a:latin typeface="Times New Roman"/>
              <a:ea typeface="Times New Roman"/>
              <a:cs typeface="Times New Roman"/>
              <a:sym typeface="Times New Roman"/>
            </a:endParaRPr>
          </a:p>
          <a:p>
            <a:pPr indent="0" lvl="0" marL="0" rtl="0" algn="ctr">
              <a:spcBef>
                <a:spcPts val="0"/>
              </a:spcBef>
              <a:spcAft>
                <a:spcPts val="0"/>
              </a:spcAft>
              <a:buClr>
                <a:schemeClr val="dk1"/>
              </a:buClr>
              <a:buSzPts val="1100"/>
              <a:buFont typeface="Arial"/>
              <a:buNone/>
            </a:pPr>
            <a:r>
              <a:rPr lang="en-US" sz="2500">
                <a:latin typeface="Times New Roman"/>
                <a:ea typeface="Times New Roman"/>
                <a:cs typeface="Times New Roman"/>
                <a:sym typeface="Times New Roman"/>
              </a:rPr>
              <a:t>CONTEST PLATFORM FOR</a:t>
            </a:r>
            <a:endParaRPr sz="2500">
              <a:latin typeface="Times New Roman"/>
              <a:ea typeface="Times New Roman"/>
              <a:cs typeface="Times New Roman"/>
              <a:sym typeface="Times New Roman"/>
            </a:endParaRPr>
          </a:p>
          <a:p>
            <a:pPr indent="0" lvl="0" marL="0" rtl="0" algn="ctr">
              <a:spcBef>
                <a:spcPts val="0"/>
              </a:spcBef>
              <a:spcAft>
                <a:spcPts val="0"/>
              </a:spcAft>
              <a:buClr>
                <a:schemeClr val="dk1"/>
              </a:buClr>
              <a:buSzPts val="1100"/>
              <a:buFont typeface="Arial"/>
              <a:buNone/>
            </a:pPr>
            <a:r>
              <a:rPr lang="en-US" sz="2500">
                <a:latin typeface="Times New Roman"/>
                <a:ea typeface="Times New Roman"/>
                <a:cs typeface="Times New Roman"/>
                <a:sym typeface="Times New Roman"/>
              </a:rPr>
              <a:t>EDUCATIONAL INSTITUTIONS</a:t>
            </a:r>
            <a:endParaRPr sz="2500">
              <a:latin typeface="Times New Roman"/>
              <a:ea typeface="Times New Roman"/>
              <a:cs typeface="Times New Roman"/>
              <a:sym typeface="Times New Roman"/>
            </a:endParaRPr>
          </a:p>
          <a:p>
            <a:pPr indent="0" lvl="0" marL="0" rtl="0" algn="l">
              <a:spcBef>
                <a:spcPts val="0"/>
              </a:spcBef>
              <a:spcAft>
                <a:spcPts val="0"/>
              </a:spcAft>
              <a:buNone/>
            </a:pPr>
            <a:r>
              <a:t/>
            </a:r>
            <a:endParaRPr sz="16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sp>
        <p:nvSpPr>
          <p:cNvPr id="24" name="Google Shape;24;p4"/>
          <p:cNvSpPr/>
          <p:nvPr/>
        </p:nvSpPr>
        <p:spPr>
          <a:xfrm>
            <a:off x="274320" y="155448"/>
            <a:ext cx="8595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Arial Narrow"/>
              <a:buNone/>
            </a:pPr>
            <a:r>
              <a:rPr b="0" i="0" lang="en-US" sz="3400" u="none" cap="none" strike="noStrike">
                <a:solidFill>
                  <a:srgbClr val="000000"/>
                </a:solidFill>
                <a:latin typeface="Arial Narrow"/>
                <a:ea typeface="Arial Narrow"/>
                <a:cs typeface="Arial Narrow"/>
                <a:sym typeface="Arial Narrow"/>
              </a:rPr>
              <a:t>Abstract</a:t>
            </a:r>
            <a:endParaRPr b="0" i="0" sz="3000" u="none" cap="none" strike="noStrike">
              <a:solidFill>
                <a:schemeClr val="dk1"/>
              </a:solidFill>
              <a:latin typeface="Arial"/>
              <a:ea typeface="Arial"/>
              <a:cs typeface="Arial"/>
              <a:sym typeface="Arial"/>
            </a:endParaRPr>
          </a:p>
        </p:txBody>
      </p:sp>
      <p:sp>
        <p:nvSpPr>
          <p:cNvPr id="25" name="Google Shape;25;p4"/>
          <p:cNvSpPr/>
          <p:nvPr/>
        </p:nvSpPr>
        <p:spPr>
          <a:xfrm>
            <a:off x="228600" y="868680"/>
            <a:ext cx="8686800" cy="5486400"/>
          </a:xfrm>
          <a:prstGeom prst="rect">
            <a:avLst/>
          </a:prstGeom>
          <a:solidFill>
            <a:srgbClr val="FFFFFF">
              <a:alpha val="0"/>
            </a:srgbClr>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 name="Google Shape;26;p4"/>
          <p:cNvSpPr/>
          <p:nvPr/>
        </p:nvSpPr>
        <p:spPr>
          <a:xfrm>
            <a:off x="411480" y="1051560"/>
            <a:ext cx="8321040" cy="5166360"/>
          </a:xfrm>
          <a:prstGeom prst="rect">
            <a:avLst/>
          </a:prstGeom>
          <a:noFill/>
          <a:ln>
            <a:noFill/>
          </a:ln>
        </p:spPr>
        <p:txBody>
          <a:bodyPr anchorCtr="0" anchor="t" bIns="750" lIns="750" spcFirstLastPara="1" rIns="750" wrap="square" tIns="750">
            <a:noAutofit/>
          </a:bodyPr>
          <a:lstStyle/>
          <a:p>
            <a:pPr indent="0" lvl="0" marL="0" marR="0" rtl="0" algn="l">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Project Summary</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Syntax is a full-stack quiz and coding contest platform for educational institutions.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It manages quizzes, coding contests, student submissions, proctoring logs, leaderboards, and result analysis in one online system.</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Technology Foundation</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Frontend uses React 19 with Vite 6 as a single page application.</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Backend uses Node.js 20, Express 5, Firebase Firestore, and Firebase Admin SDK.</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Code execution uses Judge0 CE for Python, Java, C, C++, and JavaScript.</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Security and Deployment</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Authentication uses JSON Web Tokens stored in httpOnly cookies.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Student, Admin, and Super Admin access is separated using role guards.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Deployment uses Vercel for frontend and Google Cloud Run for backend services.</a:t>
            </a:r>
            <a:br>
              <a:rPr lang="en-US" sz="1400">
                <a:solidFill>
                  <a:srgbClr val="000000"/>
                </a:solidFill>
                <a:latin typeface="Arial"/>
                <a:ea typeface="Arial"/>
                <a:cs typeface="Arial"/>
                <a:sym typeface="Arial"/>
              </a:rPr>
            </a:br>
            <a:endParaRPr sz="1240">
              <a:solidFill>
                <a:schemeClr val="dk1"/>
              </a:solidFill>
              <a:latin typeface="Arial"/>
              <a:ea typeface="Arial"/>
              <a:cs typeface="Arial"/>
              <a:sym typeface="Arial"/>
            </a:endParaRPr>
          </a:p>
        </p:txBody>
      </p:sp>
      <p:sp>
        <p:nvSpPr>
          <p:cNvPr id="27" name="Google Shape;27;p4"/>
          <p:cNvSpPr/>
          <p:nvPr/>
        </p:nvSpPr>
        <p:spPr>
          <a:xfrm>
            <a:off x="320040" y="6510528"/>
            <a:ext cx="85039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77777"/>
              </a:buClr>
              <a:buSzPts val="900"/>
              <a:buFont typeface="Arial"/>
              <a:buNone/>
            </a:pPr>
            <a:r>
              <a:rPr lang="en-US" sz="900">
                <a:solidFill>
                  <a:srgbClr val="777777"/>
                </a:solidFill>
                <a:latin typeface="Arial"/>
                <a:ea typeface="Arial"/>
                <a:cs typeface="Arial"/>
                <a:sym typeface="Arial"/>
              </a:rPr>
              <a:t>Source: Project report abstract</a:t>
            </a:r>
            <a:endParaRPr sz="75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5"/>
          <p:cNvSpPr/>
          <p:nvPr/>
        </p:nvSpPr>
        <p:spPr>
          <a:xfrm>
            <a:off x="274320" y="155448"/>
            <a:ext cx="8595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Arial Narrow"/>
              <a:buNone/>
            </a:pPr>
            <a:r>
              <a:rPr lang="en-US" sz="3400">
                <a:solidFill>
                  <a:srgbClr val="000000"/>
                </a:solidFill>
                <a:latin typeface="Arial Narrow"/>
                <a:ea typeface="Arial Narrow"/>
                <a:cs typeface="Arial Narrow"/>
                <a:sym typeface="Arial Narrow"/>
              </a:rPr>
              <a:t>Problem Statement</a:t>
            </a:r>
            <a:endParaRPr sz="3000">
              <a:solidFill>
                <a:schemeClr val="dk1"/>
              </a:solidFill>
              <a:latin typeface="Arial"/>
              <a:ea typeface="Arial"/>
              <a:cs typeface="Arial"/>
              <a:sym typeface="Arial"/>
            </a:endParaRPr>
          </a:p>
        </p:txBody>
      </p:sp>
      <p:sp>
        <p:nvSpPr>
          <p:cNvPr id="34" name="Google Shape;34;p5"/>
          <p:cNvSpPr/>
          <p:nvPr/>
        </p:nvSpPr>
        <p:spPr>
          <a:xfrm>
            <a:off x="228600" y="1005840"/>
            <a:ext cx="8686800" cy="5074920"/>
          </a:xfrm>
          <a:prstGeom prst="rect">
            <a:avLst/>
          </a:prstGeom>
          <a:solidFill>
            <a:srgbClr val="FFFFFF">
              <a:alpha val="0"/>
            </a:srgbClr>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 name="Google Shape;35;p5"/>
          <p:cNvSpPr/>
          <p:nvPr/>
        </p:nvSpPr>
        <p:spPr>
          <a:xfrm>
            <a:off x="411480" y="1234440"/>
            <a:ext cx="8321040" cy="685800"/>
          </a:xfrm>
          <a:prstGeom prst="rect">
            <a:avLst/>
          </a:prstGeom>
          <a:noFill/>
          <a:ln>
            <a:noFill/>
          </a:ln>
        </p:spPr>
        <p:txBody>
          <a:bodyPr anchorCtr="0" anchor="t" bIns="750" lIns="750" spcFirstLastPara="1" rIns="750" wrap="square" tIns="750">
            <a:noAutofit/>
          </a:bodyPr>
          <a:lstStyle/>
          <a:p>
            <a:pPr indent="0" lvl="0" marL="0" marR="0" rtl="0" algn="l">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Colleges need a secure, customizable platform to conduct quizzes, coding contests, automatic evaluation, and proctored assessments under one controlled academic system.</a:t>
            </a:r>
            <a:endParaRPr sz="1240">
              <a:solidFill>
                <a:schemeClr val="dk1"/>
              </a:solidFill>
              <a:latin typeface="Arial"/>
              <a:ea typeface="Arial"/>
              <a:cs typeface="Arial"/>
              <a:sym typeface="Arial"/>
            </a:endParaRPr>
          </a:p>
        </p:txBody>
      </p:sp>
      <p:sp>
        <p:nvSpPr>
          <p:cNvPr id="36" name="Google Shape;36;p5"/>
          <p:cNvSpPr/>
          <p:nvPr/>
        </p:nvSpPr>
        <p:spPr>
          <a:xfrm>
            <a:off x="411480" y="2057400"/>
            <a:ext cx="8321040" cy="3794760"/>
          </a:xfrm>
          <a:prstGeom prst="rect">
            <a:avLst/>
          </a:prstGeom>
          <a:noFill/>
          <a:ln>
            <a:noFill/>
          </a:ln>
        </p:spPr>
        <p:txBody>
          <a:bodyPr anchorCtr="0" anchor="t" bIns="750" lIns="750" spcFirstLastPara="1" rIns="750" wrap="square" tIns="750">
            <a:noAutofit/>
          </a:bodyPr>
          <a:lstStyle/>
          <a:p>
            <a:pPr indent="0" lvl="0" marL="0" marR="0" rtl="0" algn="l">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Current Gap</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Manual quiz and contest management is slow, repetitive, and error-prone.</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Basic forms and spreadsheets cannot compile code, validate hidden test cases, or record detailed execution results.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Public coding platforms are useful for practice, but they do not give institutions full control over users, events, rules, proctoring, and records.</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What Syntax Solves</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It centralizes quiz creation, coding contest execution, student participation, scoring, result storage, and proctoring logs.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It creates separate, role-based workflows for students, admins, and super admins.</a:t>
            </a:r>
            <a:br>
              <a:rPr lang="en-US" sz="1400">
                <a:solidFill>
                  <a:srgbClr val="000000"/>
                </a:solidFill>
                <a:latin typeface="Arial"/>
                <a:ea typeface="Arial"/>
                <a:cs typeface="Arial"/>
                <a:sym typeface="Arial"/>
              </a:rPr>
            </a:br>
            <a:endParaRPr sz="124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
        <p:nvSpPr>
          <p:cNvPr id="42" name="Google Shape;42;p6"/>
          <p:cNvSpPr/>
          <p:nvPr/>
        </p:nvSpPr>
        <p:spPr>
          <a:xfrm>
            <a:off x="274320" y="155448"/>
            <a:ext cx="8595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Arial Narrow"/>
              <a:buNone/>
            </a:pPr>
            <a:r>
              <a:rPr lang="en-US" sz="3400">
                <a:solidFill>
                  <a:srgbClr val="000000"/>
                </a:solidFill>
                <a:latin typeface="Arial Narrow"/>
                <a:ea typeface="Arial Narrow"/>
                <a:cs typeface="Arial Narrow"/>
                <a:sym typeface="Arial Narrow"/>
              </a:rPr>
              <a:t>Objectives</a:t>
            </a:r>
            <a:endParaRPr sz="3000">
              <a:solidFill>
                <a:schemeClr val="dk1"/>
              </a:solidFill>
              <a:latin typeface="Arial"/>
              <a:ea typeface="Arial"/>
              <a:cs typeface="Arial"/>
              <a:sym typeface="Arial"/>
            </a:endParaRPr>
          </a:p>
        </p:txBody>
      </p:sp>
      <p:sp>
        <p:nvSpPr>
          <p:cNvPr id="43" name="Google Shape;43;p6"/>
          <p:cNvSpPr/>
          <p:nvPr/>
        </p:nvSpPr>
        <p:spPr>
          <a:xfrm>
            <a:off x="228600" y="868680"/>
            <a:ext cx="8686800" cy="5577840"/>
          </a:xfrm>
          <a:prstGeom prst="rect">
            <a:avLst/>
          </a:prstGeom>
          <a:solidFill>
            <a:srgbClr val="FFFFFF">
              <a:alpha val="0"/>
            </a:srgbClr>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 name="Google Shape;44;p6"/>
          <p:cNvSpPr/>
          <p:nvPr/>
        </p:nvSpPr>
        <p:spPr>
          <a:xfrm>
            <a:off x="411480" y="1051560"/>
            <a:ext cx="8321040" cy="5166360"/>
          </a:xfrm>
          <a:prstGeom prst="rect">
            <a:avLst/>
          </a:prstGeom>
          <a:noFill/>
          <a:ln>
            <a:noFill/>
          </a:ln>
        </p:spPr>
        <p:txBody>
          <a:bodyPr anchorCtr="0" anchor="t" bIns="750" lIns="750" spcFirstLastPara="1" rIns="750" wrap="square" tIns="750">
            <a:noAutofit/>
          </a:bodyPr>
          <a:lstStyle/>
          <a:p>
            <a:pPr indent="0" lvl="0" marL="0" marR="0" rtl="0" algn="l">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Primary Objective</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Build a secure, full-stack web platform for colleges to host quizzes and coding contests.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Support Student, Admin, and Super Admin portals with strict role-based access control.</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Enable automatic scoring, leaderboard generation, proctoring violation logging, and secure result storage.</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Functional Objectives</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Allow admins to create contests, add quiz questions, build coding problems, publish articles, and manage participants.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Allow students to preview contests, attempt quizzes, run open test cases, submit code, and review submission history.</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Use Judge0 for sandboxed code execution and Firestore for centralized cloud data storage.</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Expected Outcome</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A dedicated institutional assessment platform that reduces manual work and improves transparency, security, and learning engagement.</a:t>
            </a:r>
            <a:br>
              <a:rPr lang="en-US" sz="1400">
                <a:solidFill>
                  <a:srgbClr val="000000"/>
                </a:solidFill>
                <a:latin typeface="Arial"/>
                <a:ea typeface="Arial"/>
                <a:cs typeface="Arial"/>
                <a:sym typeface="Arial"/>
              </a:rPr>
            </a:br>
            <a:endParaRPr sz="124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7"/>
          <p:cNvSpPr/>
          <p:nvPr/>
        </p:nvSpPr>
        <p:spPr>
          <a:xfrm>
            <a:off x="274320" y="155448"/>
            <a:ext cx="8595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Arial Narrow"/>
              <a:buNone/>
            </a:pPr>
            <a:r>
              <a:rPr lang="en-US" sz="3400">
                <a:solidFill>
                  <a:srgbClr val="000000"/>
                </a:solidFill>
                <a:latin typeface="Arial Narrow"/>
                <a:ea typeface="Arial Narrow"/>
                <a:cs typeface="Arial Narrow"/>
                <a:sym typeface="Arial Narrow"/>
              </a:rPr>
              <a:t>Literature Overview</a:t>
            </a:r>
            <a:endParaRPr sz="3000">
              <a:solidFill>
                <a:schemeClr val="dk1"/>
              </a:solidFill>
              <a:latin typeface="Arial"/>
              <a:ea typeface="Arial"/>
              <a:cs typeface="Arial"/>
              <a:sym typeface="Arial"/>
            </a:endParaRPr>
          </a:p>
        </p:txBody>
      </p:sp>
      <p:sp>
        <p:nvSpPr>
          <p:cNvPr id="51" name="Google Shape;51;p7"/>
          <p:cNvSpPr/>
          <p:nvPr/>
        </p:nvSpPr>
        <p:spPr>
          <a:xfrm>
            <a:off x="228600" y="868680"/>
            <a:ext cx="8686800" cy="5577840"/>
          </a:xfrm>
          <a:prstGeom prst="rect">
            <a:avLst/>
          </a:prstGeom>
          <a:solidFill>
            <a:srgbClr val="FFFFFF">
              <a:alpha val="0"/>
            </a:srgbClr>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 name="Google Shape;52;p7"/>
          <p:cNvSpPr/>
          <p:nvPr/>
        </p:nvSpPr>
        <p:spPr>
          <a:xfrm>
            <a:off x="411480" y="1051560"/>
            <a:ext cx="8321040" cy="5166360"/>
          </a:xfrm>
          <a:prstGeom prst="rect">
            <a:avLst/>
          </a:prstGeom>
          <a:noFill/>
          <a:ln>
            <a:noFill/>
          </a:ln>
        </p:spPr>
        <p:txBody>
          <a:bodyPr anchorCtr="0" anchor="t" bIns="750" lIns="750" spcFirstLastPara="1" rIns="750" wrap="square" tIns="750">
            <a:noAutofit/>
          </a:bodyPr>
          <a:lstStyle/>
          <a:p>
            <a:pPr indent="0" lvl="0" marL="0" marR="0" rtl="0" algn="l">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Online Assessment Platforms</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Reduce manual evaluation and allow question display, timer control, answer submission, mark calculation, and result publication.</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Many platforms focus mainly on multiple-choice questions and do not support programming submissions or sandboxed compilation.</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Programming Judge Systems</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Evaluate code automatically by running submissions against predefined test cases and returning accepted, wrong answer, compilation error, or runtime error status.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Syntax adapts this model for college use with admin-controlled contests, open test cases, hidden test cases, and Firestore-based result storage.</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Proctoring and Cloud Deployment</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Browser-side proctoring logs tab switching, fullscreen exit, clipboard usage, right-click actions, and navigation attempts.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Cloud database and serverless deployment improve scalability, reliability, and maintenance.</a:t>
            </a:r>
            <a:br>
              <a:rPr lang="en-US" sz="1400">
                <a:solidFill>
                  <a:srgbClr val="000000"/>
                </a:solidFill>
                <a:latin typeface="Arial"/>
                <a:ea typeface="Arial"/>
                <a:cs typeface="Arial"/>
                <a:sym typeface="Arial"/>
              </a:rPr>
            </a:br>
            <a:endParaRPr sz="124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8"/>
          <p:cNvSpPr/>
          <p:nvPr/>
        </p:nvSpPr>
        <p:spPr>
          <a:xfrm>
            <a:off x="274320" y="155448"/>
            <a:ext cx="8595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Arial Narrow"/>
              <a:buNone/>
            </a:pPr>
            <a:r>
              <a:rPr lang="en-US" sz="3400">
                <a:solidFill>
                  <a:srgbClr val="000000"/>
                </a:solidFill>
                <a:latin typeface="Arial Narrow"/>
                <a:ea typeface="Arial Narrow"/>
                <a:cs typeface="Arial Narrow"/>
                <a:sym typeface="Arial Narrow"/>
              </a:rPr>
              <a:t>Existing System</a:t>
            </a:r>
            <a:endParaRPr sz="3000">
              <a:solidFill>
                <a:schemeClr val="dk1"/>
              </a:solidFill>
              <a:latin typeface="Arial"/>
              <a:ea typeface="Arial"/>
              <a:cs typeface="Arial"/>
              <a:sym typeface="Arial"/>
            </a:endParaRPr>
          </a:p>
        </p:txBody>
      </p:sp>
      <p:sp>
        <p:nvSpPr>
          <p:cNvPr id="59" name="Google Shape;59;p8"/>
          <p:cNvSpPr/>
          <p:nvPr/>
        </p:nvSpPr>
        <p:spPr>
          <a:xfrm>
            <a:off x="228600" y="914400"/>
            <a:ext cx="8686800" cy="5440680"/>
          </a:xfrm>
          <a:prstGeom prst="rect">
            <a:avLst/>
          </a:prstGeom>
          <a:solidFill>
            <a:srgbClr val="FFFFFF">
              <a:alpha val="0"/>
            </a:srgbClr>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 name="Google Shape;60;p8"/>
          <p:cNvSpPr/>
          <p:nvPr/>
        </p:nvSpPr>
        <p:spPr>
          <a:xfrm>
            <a:off x="411480" y="1097280"/>
            <a:ext cx="8321040" cy="5074920"/>
          </a:xfrm>
          <a:prstGeom prst="rect">
            <a:avLst/>
          </a:prstGeom>
          <a:noFill/>
          <a:ln>
            <a:noFill/>
          </a:ln>
        </p:spPr>
        <p:txBody>
          <a:bodyPr anchorCtr="0" anchor="t" bIns="750" lIns="750" spcFirstLastPara="1" rIns="750" wrap="square" tIns="750">
            <a:noAutofit/>
          </a:bodyPr>
          <a:lstStyle/>
          <a:p>
            <a:pPr indent="0" lvl="0" marL="0" marR="0" rtl="0" algn="l">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Manual Management</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Faculty prepare questions, share them manually, collect answers, and evaluate submissions individually.</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Programming submissions may be collected through email or classroom systems and then compiled and tested manually.</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Spreadsheet and Form Systems</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Useful for simple objective quizzes and small classroom activities.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Do not provide code compilation, hidden test cases, detailed execution data, strong dashboards, or strict proctoring.</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Public Coding Platforms</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Good for practice and competitions, but designed for public communities rather than institution-owned assessment workflows.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Institutions may not control authentication, question ownership, proctoring logs, or internal result records.</a:t>
            </a:r>
            <a:br>
              <a:rPr lang="en-US" sz="1400">
                <a:solidFill>
                  <a:srgbClr val="000000"/>
                </a:solidFill>
                <a:latin typeface="Arial"/>
                <a:ea typeface="Arial"/>
                <a:cs typeface="Arial"/>
                <a:sym typeface="Arial"/>
              </a:rPr>
            </a:br>
            <a:endParaRPr sz="124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9"/>
          <p:cNvSpPr/>
          <p:nvPr/>
        </p:nvSpPr>
        <p:spPr>
          <a:xfrm>
            <a:off x="274320" y="155448"/>
            <a:ext cx="8595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Arial Narrow"/>
              <a:buNone/>
            </a:pPr>
            <a:r>
              <a:rPr lang="en-US" sz="3400">
                <a:solidFill>
                  <a:srgbClr val="000000"/>
                </a:solidFill>
                <a:latin typeface="Arial Narrow"/>
                <a:ea typeface="Arial Narrow"/>
                <a:cs typeface="Arial Narrow"/>
                <a:sym typeface="Arial Narrow"/>
              </a:rPr>
              <a:t>Drawbacks / Disadvantages</a:t>
            </a:r>
            <a:endParaRPr sz="3000">
              <a:solidFill>
                <a:schemeClr val="dk1"/>
              </a:solidFill>
              <a:latin typeface="Arial"/>
              <a:ea typeface="Arial"/>
              <a:cs typeface="Arial"/>
              <a:sym typeface="Arial"/>
            </a:endParaRPr>
          </a:p>
        </p:txBody>
      </p:sp>
      <p:sp>
        <p:nvSpPr>
          <p:cNvPr id="67" name="Google Shape;67;p9"/>
          <p:cNvSpPr/>
          <p:nvPr/>
        </p:nvSpPr>
        <p:spPr>
          <a:xfrm>
            <a:off x="228600" y="960120"/>
            <a:ext cx="8686800" cy="5303520"/>
          </a:xfrm>
          <a:prstGeom prst="rect">
            <a:avLst/>
          </a:prstGeom>
          <a:solidFill>
            <a:srgbClr val="FFFFFF">
              <a:alpha val="0"/>
            </a:srgbClr>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 name="Google Shape;68;p9"/>
          <p:cNvSpPr/>
          <p:nvPr/>
        </p:nvSpPr>
        <p:spPr>
          <a:xfrm>
            <a:off x="411480" y="1143000"/>
            <a:ext cx="8321040" cy="4892040"/>
          </a:xfrm>
          <a:prstGeom prst="rect">
            <a:avLst/>
          </a:prstGeom>
          <a:noFill/>
          <a:ln>
            <a:noFill/>
          </a:ln>
        </p:spPr>
        <p:txBody>
          <a:bodyPr anchorCtr="0" anchor="t" bIns="750" lIns="750" spcFirstLastPara="1" rIns="750" wrap="square" tIns="750">
            <a:noAutofit/>
          </a:bodyPr>
          <a:lstStyle/>
          <a:p>
            <a:pPr indent="0" lvl="0" marL="0" marR="0" rtl="0" algn="l">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Fragmented Workflow</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Faculty often use different tools for quizzes, coding practice, marks, announcements, and result sharing.</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This increases administrative effort and reduces transparency for students.</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Limited Technical Support</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Basic tools cannot execute code, verify hidden test cases, store execution status, or support multi-language submissions.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Public systems do not always match college-level rules, batches, internal assessments, and department ownership.</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Weak Control and Integrity</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Existing systems usually lack clear Student, Admin, and Super Admin separation.</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Proctoring actions such as tab switch, fullscreen exit, clipboard usage, and browser navigation are not consistently logged.</a:t>
            </a:r>
            <a:br>
              <a:rPr lang="en-US" sz="1400">
                <a:solidFill>
                  <a:srgbClr val="000000"/>
                </a:solidFill>
                <a:latin typeface="Arial"/>
                <a:ea typeface="Arial"/>
                <a:cs typeface="Arial"/>
                <a:sym typeface="Arial"/>
              </a:rPr>
            </a:br>
            <a:endParaRPr sz="124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0"/>
          <p:cNvSpPr/>
          <p:nvPr/>
        </p:nvSpPr>
        <p:spPr>
          <a:xfrm>
            <a:off x="274320" y="155448"/>
            <a:ext cx="8595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Arial Narrow"/>
              <a:buNone/>
            </a:pPr>
            <a:r>
              <a:rPr lang="en-US" sz="3400">
                <a:solidFill>
                  <a:srgbClr val="000000"/>
                </a:solidFill>
                <a:latin typeface="Arial Narrow"/>
                <a:ea typeface="Arial Narrow"/>
                <a:cs typeface="Arial Narrow"/>
                <a:sym typeface="Arial Narrow"/>
              </a:rPr>
              <a:t>Proposed System</a:t>
            </a:r>
            <a:endParaRPr sz="3000">
              <a:solidFill>
                <a:schemeClr val="dk1"/>
              </a:solidFill>
              <a:latin typeface="Arial"/>
              <a:ea typeface="Arial"/>
              <a:cs typeface="Arial"/>
              <a:sym typeface="Arial"/>
            </a:endParaRPr>
          </a:p>
        </p:txBody>
      </p:sp>
      <p:sp>
        <p:nvSpPr>
          <p:cNvPr id="75" name="Google Shape;75;p10"/>
          <p:cNvSpPr/>
          <p:nvPr/>
        </p:nvSpPr>
        <p:spPr>
          <a:xfrm>
            <a:off x="228600" y="914400"/>
            <a:ext cx="8686800" cy="5486400"/>
          </a:xfrm>
          <a:prstGeom prst="rect">
            <a:avLst/>
          </a:prstGeom>
          <a:solidFill>
            <a:srgbClr val="FFFFFF">
              <a:alpha val="0"/>
            </a:srgbClr>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6" name="Google Shape;76;p10"/>
          <p:cNvSpPr/>
          <p:nvPr/>
        </p:nvSpPr>
        <p:spPr>
          <a:xfrm>
            <a:off x="411480" y="1078992"/>
            <a:ext cx="8321040" cy="5120640"/>
          </a:xfrm>
          <a:prstGeom prst="rect">
            <a:avLst/>
          </a:prstGeom>
          <a:noFill/>
          <a:ln>
            <a:noFill/>
          </a:ln>
        </p:spPr>
        <p:txBody>
          <a:bodyPr anchorCtr="0" anchor="t" bIns="750" lIns="750" spcFirstLastPara="1" rIns="750" wrap="square" tIns="750">
            <a:noAutofit/>
          </a:bodyPr>
          <a:lstStyle/>
          <a:p>
            <a:pPr indent="0" lvl="0" marL="0" marR="0" rtl="0" algn="l">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System Overview</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Syntax is a full-stack quiz and coding contest platform built for educational institutions.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It provides separate portals for Students, Admins, and Super Admins.</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Key Workflows</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Admins create quizzes, coding contests, articles, and reusable problem-bank entries.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Students view events, attempt quizzes, solve coding problems, run sample tests, submit final answers, and view history.</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Super admins manage institutional admins and oversee contests globally.</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Backend Design</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The backend follows a route-controller-service pattern, which separates API endpoints, request handling, business logic, and database operations.</a:t>
            </a:r>
            <a:br>
              <a:rPr lang="en-US" sz="1400">
                <a:solidFill>
                  <a:srgbClr val="000000"/>
                </a:solidFill>
                <a:latin typeface="Arial"/>
                <a:ea typeface="Arial"/>
                <a:cs typeface="Arial"/>
                <a:sym typeface="Arial"/>
              </a:rPr>
            </a:br>
            <a:endParaRPr sz="124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1"/>
          <p:cNvSpPr/>
          <p:nvPr/>
        </p:nvSpPr>
        <p:spPr>
          <a:xfrm>
            <a:off x="274320" y="155448"/>
            <a:ext cx="8595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Arial Narrow"/>
              <a:buNone/>
            </a:pPr>
            <a:r>
              <a:rPr lang="en-US" sz="3400">
                <a:solidFill>
                  <a:srgbClr val="000000"/>
                </a:solidFill>
                <a:latin typeface="Arial Narrow"/>
                <a:ea typeface="Arial Narrow"/>
                <a:cs typeface="Arial Narrow"/>
                <a:sym typeface="Arial Narrow"/>
              </a:rPr>
              <a:t>Advantages of the Proposed System</a:t>
            </a:r>
            <a:endParaRPr sz="3000">
              <a:solidFill>
                <a:schemeClr val="dk1"/>
              </a:solidFill>
              <a:latin typeface="Arial"/>
              <a:ea typeface="Arial"/>
              <a:cs typeface="Arial"/>
              <a:sym typeface="Arial"/>
            </a:endParaRPr>
          </a:p>
        </p:txBody>
      </p:sp>
      <p:sp>
        <p:nvSpPr>
          <p:cNvPr id="83" name="Google Shape;83;p11"/>
          <p:cNvSpPr/>
          <p:nvPr/>
        </p:nvSpPr>
        <p:spPr>
          <a:xfrm>
            <a:off x="228600" y="868680"/>
            <a:ext cx="8686800" cy="5577840"/>
          </a:xfrm>
          <a:prstGeom prst="rect">
            <a:avLst/>
          </a:prstGeom>
          <a:solidFill>
            <a:srgbClr val="FFFFFF">
              <a:alpha val="0"/>
            </a:srgbClr>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4" name="Google Shape;84;p11"/>
          <p:cNvSpPr/>
          <p:nvPr/>
        </p:nvSpPr>
        <p:spPr>
          <a:xfrm>
            <a:off x="411480" y="1051560"/>
            <a:ext cx="8321040" cy="5212080"/>
          </a:xfrm>
          <a:prstGeom prst="rect">
            <a:avLst/>
          </a:prstGeom>
          <a:noFill/>
          <a:ln>
            <a:noFill/>
          </a:ln>
        </p:spPr>
        <p:txBody>
          <a:bodyPr anchorCtr="0" anchor="t" bIns="750" lIns="750" spcFirstLastPara="1" rIns="750" wrap="square" tIns="750">
            <a:noAutofit/>
          </a:bodyPr>
          <a:lstStyle/>
          <a:p>
            <a:pPr indent="0" lvl="0" marL="0" marR="0" rtl="0" algn="l">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Centralized Academic Workflow</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Manages quizzes, contests, problem banks, articles, submissions, proctoring logs, and leaderboards in one system.</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Automatic Code Evaluation</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Judge0 compiles and runs programs against predefined test cases and returns structured results such as accepted, wrong answer, compilation error, runtime error, time, and memory.</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Security and Integrity</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JWT authentication, httpOnly cookies, and role-based middleware restrict access to protected operations.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Proctoring records tab switches, fullscreen exits, clipboard actions, right-clicks, and suspicious browser interactions.</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Cloud-Ready Deployment</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Vercel frontend hosting and Docker-based Google Cloud Run backend deployment improve scalability and maintenance.</a:t>
            </a:r>
            <a:br>
              <a:rPr lang="en-US" sz="1400">
                <a:solidFill>
                  <a:srgbClr val="000000"/>
                </a:solidFill>
                <a:latin typeface="Arial"/>
                <a:ea typeface="Arial"/>
                <a:cs typeface="Arial"/>
                <a:sym typeface="Arial"/>
              </a:rPr>
            </a:br>
            <a:endParaRPr sz="124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2"/>
          <p:cNvSpPr/>
          <p:nvPr/>
        </p:nvSpPr>
        <p:spPr>
          <a:xfrm>
            <a:off x="274320" y="155448"/>
            <a:ext cx="8595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Arial Narrow"/>
              <a:buNone/>
            </a:pPr>
            <a:r>
              <a:rPr lang="en-US" sz="3400">
                <a:solidFill>
                  <a:srgbClr val="000000"/>
                </a:solidFill>
                <a:latin typeface="Arial Narrow"/>
                <a:ea typeface="Arial Narrow"/>
                <a:cs typeface="Arial Narrow"/>
                <a:sym typeface="Arial Narrow"/>
              </a:rPr>
              <a:t>Scope of the Project</a:t>
            </a:r>
            <a:endParaRPr sz="3000">
              <a:solidFill>
                <a:schemeClr val="dk1"/>
              </a:solidFill>
              <a:latin typeface="Arial"/>
              <a:ea typeface="Arial"/>
              <a:cs typeface="Arial"/>
              <a:sym typeface="Arial"/>
            </a:endParaRPr>
          </a:p>
        </p:txBody>
      </p:sp>
      <p:sp>
        <p:nvSpPr>
          <p:cNvPr id="91" name="Google Shape;91;p12"/>
          <p:cNvSpPr/>
          <p:nvPr/>
        </p:nvSpPr>
        <p:spPr>
          <a:xfrm>
            <a:off x="228600" y="960120"/>
            <a:ext cx="8686800" cy="5440680"/>
          </a:xfrm>
          <a:prstGeom prst="rect">
            <a:avLst/>
          </a:prstGeom>
          <a:solidFill>
            <a:srgbClr val="FFFFFF">
              <a:alpha val="0"/>
            </a:srgbClr>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92" name="Google Shape;92;p12"/>
          <p:cNvCxnSpPr/>
          <p:nvPr/>
        </p:nvCxnSpPr>
        <p:spPr>
          <a:xfrm>
            <a:off x="4572000" y="1097280"/>
            <a:ext cx="0" cy="5074920"/>
          </a:xfrm>
          <a:prstGeom prst="straightConnector1">
            <a:avLst/>
          </a:prstGeom>
          <a:noFill/>
          <a:ln cap="flat" cmpd="sng" w="12700">
            <a:solidFill>
              <a:srgbClr val="BBBBBB"/>
            </a:solidFill>
            <a:prstDash val="solid"/>
            <a:round/>
            <a:headEnd len="sm" w="sm" type="none"/>
            <a:tailEnd len="sm" w="sm" type="none"/>
          </a:ln>
        </p:spPr>
      </p:cxnSp>
      <p:sp>
        <p:nvSpPr>
          <p:cNvPr id="93" name="Google Shape;93;p12"/>
          <p:cNvSpPr/>
          <p:nvPr/>
        </p:nvSpPr>
        <p:spPr>
          <a:xfrm>
            <a:off x="411480" y="1143000"/>
            <a:ext cx="3977640" cy="5029200"/>
          </a:xfrm>
          <a:prstGeom prst="rect">
            <a:avLst/>
          </a:prstGeom>
          <a:noFill/>
          <a:ln>
            <a:noFill/>
          </a:ln>
        </p:spPr>
        <p:txBody>
          <a:bodyPr anchorCtr="0" anchor="t" bIns="750" lIns="750" spcFirstLastPara="1" rIns="750" wrap="square" tIns="750">
            <a:noAutofit/>
          </a:bodyPr>
          <a:lstStyle/>
          <a:p>
            <a:pPr indent="0" lvl="0" marL="0" marR="0" rtl="0" algn="l">
              <a:spcBef>
                <a:spcPts val="0"/>
              </a:spcBef>
              <a:spcAft>
                <a:spcPts val="0"/>
              </a:spcAft>
              <a:buClr>
                <a:srgbClr val="000000"/>
              </a:buClr>
              <a:buSzPts val="1500"/>
              <a:buFont typeface="Arial"/>
              <a:buNone/>
            </a:pPr>
            <a:r>
              <a:rPr b="1" lang="en-US" sz="1500">
                <a:solidFill>
                  <a:srgbClr val="000000"/>
                </a:solidFill>
                <a:latin typeface="Arial"/>
                <a:ea typeface="Arial"/>
                <a:cs typeface="Arial"/>
                <a:sym typeface="Arial"/>
              </a:rPr>
              <a:t>Included</a:t>
            </a:r>
            <a:br>
              <a:rPr b="1" lang="en-US" sz="1500">
                <a:solidFill>
                  <a:srgbClr val="000000"/>
                </a:solidFill>
                <a:latin typeface="Arial"/>
                <a:ea typeface="Arial"/>
                <a:cs typeface="Arial"/>
                <a:sym typeface="Arial"/>
              </a:rPr>
            </a:br>
            <a:r>
              <a:rPr lang="en-US" sz="1500">
                <a:solidFill>
                  <a:srgbClr val="000000"/>
                </a:solidFill>
                <a:latin typeface="Arial"/>
                <a:ea typeface="Arial"/>
                <a:cs typeface="Arial"/>
                <a:sym typeface="Arial"/>
              </a:rPr>
              <a:t>• Secure login and role detection</a:t>
            </a:r>
            <a:br>
              <a:rPr lang="en-US" sz="1500">
                <a:solidFill>
                  <a:srgbClr val="000000"/>
                </a:solidFill>
                <a:latin typeface="Arial"/>
                <a:ea typeface="Arial"/>
                <a:cs typeface="Arial"/>
                <a:sym typeface="Arial"/>
              </a:rPr>
            </a:br>
            <a:r>
              <a:rPr lang="en-US" sz="1500">
                <a:solidFill>
                  <a:srgbClr val="000000"/>
                </a:solidFill>
                <a:latin typeface="Arial"/>
                <a:ea typeface="Arial"/>
                <a:cs typeface="Arial"/>
                <a:sym typeface="Arial"/>
              </a:rPr>
              <a:t>• Contest creation and question addition</a:t>
            </a:r>
            <a:br>
              <a:rPr lang="en-US" sz="1500">
                <a:solidFill>
                  <a:srgbClr val="000000"/>
                </a:solidFill>
                <a:latin typeface="Arial"/>
                <a:ea typeface="Arial"/>
                <a:cs typeface="Arial"/>
                <a:sym typeface="Arial"/>
              </a:rPr>
            </a:br>
            <a:r>
              <a:rPr lang="en-US" sz="1500">
                <a:solidFill>
                  <a:srgbClr val="000000"/>
                </a:solidFill>
                <a:latin typeface="Arial"/>
                <a:ea typeface="Arial"/>
                <a:cs typeface="Arial"/>
                <a:sym typeface="Arial"/>
              </a:rPr>
              <a:t>• Student participation and answer submission</a:t>
            </a:r>
            <a:br>
              <a:rPr lang="en-US" sz="1500">
                <a:solidFill>
                  <a:srgbClr val="000000"/>
                </a:solidFill>
                <a:latin typeface="Arial"/>
                <a:ea typeface="Arial"/>
                <a:cs typeface="Arial"/>
                <a:sym typeface="Arial"/>
              </a:rPr>
            </a:br>
            <a:r>
              <a:rPr lang="en-US" sz="1500">
                <a:solidFill>
                  <a:srgbClr val="000000"/>
                </a:solidFill>
                <a:latin typeface="Arial"/>
                <a:ea typeface="Arial"/>
                <a:cs typeface="Arial"/>
                <a:sym typeface="Arial"/>
              </a:rPr>
              <a:t>• Judge0-based code execution and scoring</a:t>
            </a:r>
            <a:br>
              <a:rPr lang="en-US" sz="1500">
                <a:solidFill>
                  <a:srgbClr val="000000"/>
                </a:solidFill>
                <a:latin typeface="Arial"/>
                <a:ea typeface="Arial"/>
                <a:cs typeface="Arial"/>
                <a:sym typeface="Arial"/>
              </a:rPr>
            </a:br>
            <a:r>
              <a:rPr lang="en-US" sz="1500">
                <a:solidFill>
                  <a:srgbClr val="000000"/>
                </a:solidFill>
                <a:latin typeface="Arial"/>
                <a:ea typeface="Arial"/>
                <a:cs typeface="Arial"/>
                <a:sym typeface="Arial"/>
              </a:rPr>
              <a:t>• Leaderboard and submission history</a:t>
            </a:r>
            <a:br>
              <a:rPr lang="en-US" sz="1500">
                <a:solidFill>
                  <a:srgbClr val="000000"/>
                </a:solidFill>
                <a:latin typeface="Arial"/>
                <a:ea typeface="Arial"/>
                <a:cs typeface="Arial"/>
                <a:sym typeface="Arial"/>
              </a:rPr>
            </a:br>
            <a:r>
              <a:rPr lang="en-US" sz="1500">
                <a:solidFill>
                  <a:srgbClr val="000000"/>
                </a:solidFill>
                <a:latin typeface="Arial"/>
                <a:ea typeface="Arial"/>
                <a:cs typeface="Arial"/>
                <a:sym typeface="Arial"/>
              </a:rPr>
              <a:t>• Article publishing and problem-bank management</a:t>
            </a:r>
            <a:br>
              <a:rPr lang="en-US" sz="1500">
                <a:solidFill>
                  <a:srgbClr val="000000"/>
                </a:solidFill>
                <a:latin typeface="Arial"/>
                <a:ea typeface="Arial"/>
                <a:cs typeface="Arial"/>
                <a:sym typeface="Arial"/>
              </a:rPr>
            </a:br>
            <a:r>
              <a:rPr lang="en-US" sz="1500">
                <a:solidFill>
                  <a:srgbClr val="000000"/>
                </a:solidFill>
                <a:latin typeface="Arial"/>
                <a:ea typeface="Arial"/>
                <a:cs typeface="Arial"/>
                <a:sym typeface="Arial"/>
              </a:rPr>
              <a:t>• Profile updates, skills, languages, and academic metadata</a:t>
            </a:r>
            <a:br>
              <a:rPr lang="en-US" sz="1500">
                <a:solidFill>
                  <a:srgbClr val="000000"/>
                </a:solidFill>
                <a:latin typeface="Arial"/>
                <a:ea typeface="Arial"/>
                <a:cs typeface="Arial"/>
                <a:sym typeface="Arial"/>
              </a:rPr>
            </a:br>
            <a:endParaRPr sz="1320">
              <a:solidFill>
                <a:schemeClr val="dk1"/>
              </a:solidFill>
              <a:latin typeface="Arial"/>
              <a:ea typeface="Arial"/>
              <a:cs typeface="Arial"/>
              <a:sym typeface="Arial"/>
            </a:endParaRPr>
          </a:p>
        </p:txBody>
      </p:sp>
      <p:sp>
        <p:nvSpPr>
          <p:cNvPr id="94" name="Google Shape;94;p12"/>
          <p:cNvSpPr/>
          <p:nvPr/>
        </p:nvSpPr>
        <p:spPr>
          <a:xfrm>
            <a:off x="4800600" y="1143000"/>
            <a:ext cx="3886200" cy="5029200"/>
          </a:xfrm>
          <a:prstGeom prst="rect">
            <a:avLst/>
          </a:prstGeom>
          <a:noFill/>
          <a:ln>
            <a:noFill/>
          </a:ln>
        </p:spPr>
        <p:txBody>
          <a:bodyPr anchorCtr="0" anchor="t" bIns="750" lIns="750" spcFirstLastPara="1" rIns="750" wrap="square" tIns="750">
            <a:noAutofit/>
          </a:bodyPr>
          <a:lstStyle/>
          <a:p>
            <a:pPr indent="0" lvl="0" marL="0" marR="0" rtl="0" algn="l">
              <a:spcBef>
                <a:spcPts val="0"/>
              </a:spcBef>
              <a:spcAft>
                <a:spcPts val="0"/>
              </a:spcAft>
              <a:buClr>
                <a:srgbClr val="000000"/>
              </a:buClr>
              <a:buSzPts val="1500"/>
              <a:buFont typeface="Arial"/>
              <a:buNone/>
            </a:pPr>
            <a:r>
              <a:rPr b="1" lang="en-US" sz="1500">
                <a:solidFill>
                  <a:srgbClr val="000000"/>
                </a:solidFill>
                <a:latin typeface="Arial"/>
                <a:ea typeface="Arial"/>
                <a:cs typeface="Arial"/>
                <a:sym typeface="Arial"/>
              </a:rPr>
              <a:t>Current Boundaries</a:t>
            </a:r>
            <a:br>
              <a:rPr b="1" lang="en-US" sz="1500">
                <a:solidFill>
                  <a:srgbClr val="000000"/>
                </a:solidFill>
                <a:latin typeface="Arial"/>
                <a:ea typeface="Arial"/>
                <a:cs typeface="Arial"/>
                <a:sym typeface="Arial"/>
              </a:rPr>
            </a:br>
            <a:r>
              <a:rPr lang="en-US" sz="1500">
                <a:solidFill>
                  <a:srgbClr val="000000"/>
                </a:solidFill>
                <a:latin typeface="Arial"/>
                <a:ea typeface="Arial"/>
                <a:cs typeface="Arial"/>
                <a:sym typeface="Arial"/>
              </a:rPr>
              <a:t>• Designed as a web platform, not a mobile application.</a:t>
            </a:r>
            <a:br>
              <a:rPr lang="en-US" sz="1500">
                <a:solidFill>
                  <a:srgbClr val="000000"/>
                </a:solidFill>
                <a:latin typeface="Arial"/>
                <a:ea typeface="Arial"/>
                <a:cs typeface="Arial"/>
                <a:sym typeface="Arial"/>
              </a:rPr>
            </a:br>
            <a:r>
              <a:rPr lang="en-US" sz="1500">
                <a:solidFill>
                  <a:srgbClr val="000000"/>
                </a:solidFill>
                <a:latin typeface="Arial"/>
                <a:ea typeface="Arial"/>
                <a:cs typeface="Arial"/>
                <a:sym typeface="Arial"/>
              </a:rPr>
              <a:t>• Advanced AI-based cheating detection and facial recognition are not included at this stage.</a:t>
            </a:r>
            <a:br>
              <a:rPr lang="en-US" sz="1500">
                <a:solidFill>
                  <a:srgbClr val="000000"/>
                </a:solidFill>
                <a:latin typeface="Arial"/>
                <a:ea typeface="Arial"/>
                <a:cs typeface="Arial"/>
                <a:sym typeface="Arial"/>
              </a:rPr>
            </a:br>
            <a:r>
              <a:rPr lang="en-US" sz="1500">
                <a:solidFill>
                  <a:srgbClr val="000000"/>
                </a:solidFill>
                <a:latin typeface="Arial"/>
                <a:ea typeface="Arial"/>
                <a:cs typeface="Arial"/>
                <a:sym typeface="Arial"/>
              </a:rPr>
              <a:t>• Learning Management System integrations such as Moodle or Google Classroom are future extensions.</a:t>
            </a:r>
            <a:br>
              <a:rPr lang="en-US" sz="1500">
                <a:solidFill>
                  <a:srgbClr val="000000"/>
                </a:solidFill>
                <a:latin typeface="Arial"/>
                <a:ea typeface="Arial"/>
                <a:cs typeface="Arial"/>
                <a:sym typeface="Arial"/>
              </a:rPr>
            </a:br>
            <a:r>
              <a:rPr lang="en-US" sz="1500">
                <a:solidFill>
                  <a:srgbClr val="000000"/>
                </a:solidFill>
                <a:latin typeface="Arial"/>
                <a:ea typeface="Arial"/>
                <a:cs typeface="Arial"/>
                <a:sym typeface="Arial"/>
              </a:rPr>
              <a:t>• The system requires stable internet access for online contests and cloud services.</a:t>
            </a:r>
            <a:br>
              <a:rPr lang="en-US" sz="1500">
                <a:solidFill>
                  <a:srgbClr val="000000"/>
                </a:solidFill>
                <a:latin typeface="Arial"/>
                <a:ea typeface="Arial"/>
                <a:cs typeface="Arial"/>
                <a:sym typeface="Arial"/>
              </a:rPr>
            </a:br>
            <a:endParaRPr sz="132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3"/>
          <p:cNvSpPr/>
          <p:nvPr/>
        </p:nvSpPr>
        <p:spPr>
          <a:xfrm>
            <a:off x="274320" y="155448"/>
            <a:ext cx="8595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Arial Narrow"/>
              <a:buNone/>
            </a:pPr>
            <a:r>
              <a:rPr lang="en-US" sz="3400">
                <a:solidFill>
                  <a:srgbClr val="000000"/>
                </a:solidFill>
                <a:latin typeface="Arial Narrow"/>
                <a:ea typeface="Arial Narrow"/>
                <a:cs typeface="Arial Narrow"/>
                <a:sym typeface="Arial Narrow"/>
              </a:rPr>
              <a:t>Methodology / Technology Stack</a:t>
            </a:r>
            <a:endParaRPr sz="3000">
              <a:solidFill>
                <a:schemeClr val="dk1"/>
              </a:solidFill>
              <a:latin typeface="Arial"/>
              <a:ea typeface="Arial"/>
              <a:cs typeface="Arial"/>
              <a:sym typeface="Arial"/>
            </a:endParaRPr>
          </a:p>
        </p:txBody>
      </p:sp>
      <p:sp>
        <p:nvSpPr>
          <p:cNvPr id="101" name="Google Shape;101;p13"/>
          <p:cNvSpPr/>
          <p:nvPr/>
        </p:nvSpPr>
        <p:spPr>
          <a:xfrm>
            <a:off x="228600" y="868680"/>
            <a:ext cx="8686800" cy="5577840"/>
          </a:xfrm>
          <a:prstGeom prst="rect">
            <a:avLst/>
          </a:prstGeom>
          <a:solidFill>
            <a:srgbClr val="FFFFFF">
              <a:alpha val="0"/>
            </a:srgbClr>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102" name="Google Shape;102;p13"/>
          <p:cNvGraphicFramePr/>
          <p:nvPr/>
        </p:nvGraphicFramePr>
        <p:xfrm>
          <a:off x="502920" y="1143000"/>
          <a:ext cx="3000000" cy="3000000"/>
        </p:xfrm>
        <a:graphic>
          <a:graphicData uri="http://schemas.openxmlformats.org/drawingml/2006/table">
            <a:tbl>
              <a:tblPr>
                <a:noFill/>
                <a:tableStyleId>{64C0411A-2C98-4147-9FEC-7885B5909016}</a:tableStyleId>
              </a:tblPr>
              <a:tblGrid>
                <a:gridCol w="1920250"/>
                <a:gridCol w="6217925"/>
              </a:tblGrid>
              <a:tr h="347475">
                <a:tc>
                  <a:txBody>
                    <a:bodyPr/>
                    <a:lstStyle/>
                    <a:p>
                      <a:pPr indent="0" lvl="0" marL="0" marR="0" rtl="0" algn="ctr">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Layer</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Technology / Tool</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r>
              <a:tr h="384050">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Frontend</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React 19, Vite 6, React Router DOM v7</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Styling</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CSS, CSS Modules, dark mode theme</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Backend</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Node.js 20, Express 5</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Database</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Firebase Firestore with Admin SDK</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Authentication</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JWT, bcryptjs, httpOnly cookies</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Code Execution</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Judge0 CE API</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Security</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Helmet, CORS, rate limits, validators</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Deployment</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Vercel frontend, Docker, Google Cloud Run backend</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103" name="Google Shape;103;p13"/>
          <p:cNvSpPr/>
          <p:nvPr/>
        </p:nvSpPr>
        <p:spPr>
          <a:xfrm>
            <a:off x="594360" y="4709160"/>
            <a:ext cx="7955280" cy="1417320"/>
          </a:xfrm>
          <a:prstGeom prst="rect">
            <a:avLst/>
          </a:prstGeom>
          <a:noFill/>
          <a:ln>
            <a:noFill/>
          </a:ln>
        </p:spPr>
        <p:txBody>
          <a:bodyPr anchorCtr="0" anchor="t" bIns="750" lIns="750" spcFirstLastPara="1" rIns="750" wrap="square" tIns="750">
            <a:noAutofit/>
          </a:bodyPr>
          <a:lstStyle/>
          <a:p>
            <a:pPr indent="0" lvl="0" marL="0" marR="0" rtl="0" algn="l">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Development Model</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Agile methodology with modular sprint-based development across authentication, admin dashboard, student interface, code editor, and proctoring modules.</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External Tools</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Postman is used for API testing, GitHub for version control, and npm for package management.</a:t>
            </a:r>
            <a:br>
              <a:rPr lang="en-US" sz="1400">
                <a:solidFill>
                  <a:srgbClr val="000000"/>
                </a:solidFill>
                <a:latin typeface="Arial"/>
                <a:ea typeface="Arial"/>
                <a:cs typeface="Arial"/>
                <a:sym typeface="Arial"/>
              </a:rPr>
            </a:br>
            <a:endParaRPr sz="124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4"/>
          <p:cNvSpPr/>
          <p:nvPr/>
        </p:nvSpPr>
        <p:spPr>
          <a:xfrm>
            <a:off x="274320" y="155448"/>
            <a:ext cx="8595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Arial Narrow"/>
              <a:buNone/>
            </a:pPr>
            <a:r>
              <a:rPr lang="en-US" sz="3400">
                <a:solidFill>
                  <a:srgbClr val="000000"/>
                </a:solidFill>
                <a:latin typeface="Arial Narrow"/>
                <a:ea typeface="Arial Narrow"/>
                <a:cs typeface="Arial Narrow"/>
                <a:sym typeface="Arial Narrow"/>
              </a:rPr>
              <a:t>High Level Architecture</a:t>
            </a:r>
            <a:endParaRPr sz="3000">
              <a:solidFill>
                <a:schemeClr val="dk1"/>
              </a:solidFill>
              <a:latin typeface="Arial"/>
              <a:ea typeface="Arial"/>
              <a:cs typeface="Arial"/>
              <a:sym typeface="Arial"/>
            </a:endParaRPr>
          </a:p>
        </p:txBody>
      </p:sp>
      <p:sp>
        <p:nvSpPr>
          <p:cNvPr id="110" name="Google Shape;110;p14"/>
          <p:cNvSpPr/>
          <p:nvPr/>
        </p:nvSpPr>
        <p:spPr>
          <a:xfrm>
            <a:off x="228600" y="822960"/>
            <a:ext cx="8686800" cy="5715000"/>
          </a:xfrm>
          <a:prstGeom prst="rect">
            <a:avLst/>
          </a:prstGeom>
          <a:solidFill>
            <a:srgbClr val="FFFFFF">
              <a:alpha val="0"/>
            </a:srgbClr>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mnt/data/syntax_assets/architecture_crop.png" id="111" name="Google Shape;111;p14"/>
          <p:cNvPicPr preferRelativeResize="0"/>
          <p:nvPr/>
        </p:nvPicPr>
        <p:blipFill rotWithShape="1">
          <a:blip r:embed="rId3">
            <a:alphaModFix/>
          </a:blip>
          <a:srcRect b="0" l="0" r="0" t="0"/>
          <a:stretch/>
        </p:blipFill>
        <p:spPr>
          <a:xfrm>
            <a:off x="502920" y="1231982"/>
            <a:ext cx="3886200" cy="4805516"/>
          </a:xfrm>
          <a:prstGeom prst="rect">
            <a:avLst/>
          </a:prstGeom>
          <a:noFill/>
          <a:ln>
            <a:noFill/>
          </a:ln>
        </p:spPr>
      </p:pic>
      <p:sp>
        <p:nvSpPr>
          <p:cNvPr id="112" name="Google Shape;112;p14"/>
          <p:cNvSpPr/>
          <p:nvPr/>
        </p:nvSpPr>
        <p:spPr>
          <a:xfrm>
            <a:off x="4617720" y="1078992"/>
            <a:ext cx="4069080" cy="5166360"/>
          </a:xfrm>
          <a:prstGeom prst="rect">
            <a:avLst/>
          </a:prstGeom>
          <a:noFill/>
          <a:ln>
            <a:noFill/>
          </a:ln>
        </p:spPr>
        <p:txBody>
          <a:bodyPr anchorCtr="0" anchor="t" bIns="750" lIns="750" spcFirstLastPara="1" rIns="750" wrap="square" tIns="750">
            <a:noAutofit/>
          </a:bodyPr>
          <a:lstStyle/>
          <a:p>
            <a:pPr indent="0" lvl="0" marL="0" marR="0" rtl="0" algn="l">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Architecture Flow</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Vercel hosts the React single page application.</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Express.js API on Cloud Run handles route modules, controllers, and services.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Firebase Firestore stores users, events, results, and logs.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Judge0 executes code for Python, Java, C, C++, and JavaScript.</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Redis supports leaderboard cache and deployment pipeline workflows.</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Why This Design Matters</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Frontend, backend, database, code execution, cache, and deployment infrastructure can scale independently.</a:t>
            </a:r>
            <a:br>
              <a:rPr lang="en-US" sz="1400">
                <a:solidFill>
                  <a:srgbClr val="000000"/>
                </a:solidFill>
                <a:latin typeface="Arial"/>
                <a:ea typeface="Arial"/>
                <a:cs typeface="Arial"/>
                <a:sym typeface="Arial"/>
              </a:rPr>
            </a:br>
            <a:endParaRPr sz="1240">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5"/>
          <p:cNvSpPr/>
          <p:nvPr/>
        </p:nvSpPr>
        <p:spPr>
          <a:xfrm>
            <a:off x="274320" y="155448"/>
            <a:ext cx="8595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Arial Narrow"/>
              <a:buNone/>
            </a:pPr>
            <a:r>
              <a:rPr lang="en-US" sz="3400">
                <a:solidFill>
                  <a:srgbClr val="000000"/>
                </a:solidFill>
                <a:latin typeface="Arial Narrow"/>
                <a:ea typeface="Arial Narrow"/>
                <a:cs typeface="Arial Narrow"/>
                <a:sym typeface="Arial Narrow"/>
              </a:rPr>
              <a:t>Authentication and Authorization Model</a:t>
            </a:r>
            <a:endParaRPr sz="3000">
              <a:solidFill>
                <a:schemeClr val="dk1"/>
              </a:solidFill>
              <a:latin typeface="Arial"/>
              <a:ea typeface="Arial"/>
              <a:cs typeface="Arial"/>
              <a:sym typeface="Arial"/>
            </a:endParaRPr>
          </a:p>
        </p:txBody>
      </p:sp>
      <p:sp>
        <p:nvSpPr>
          <p:cNvPr id="119" name="Google Shape;119;p15"/>
          <p:cNvSpPr/>
          <p:nvPr/>
        </p:nvSpPr>
        <p:spPr>
          <a:xfrm>
            <a:off x="228600" y="822960"/>
            <a:ext cx="8686800" cy="5715000"/>
          </a:xfrm>
          <a:prstGeom prst="rect">
            <a:avLst/>
          </a:prstGeom>
          <a:solidFill>
            <a:srgbClr val="FFFFFF">
              <a:alpha val="0"/>
            </a:srgbClr>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120" name="Google Shape;120;p15"/>
          <p:cNvGraphicFramePr/>
          <p:nvPr/>
        </p:nvGraphicFramePr>
        <p:xfrm>
          <a:off x="502920" y="1051560"/>
          <a:ext cx="3000000" cy="3000000"/>
        </p:xfrm>
        <a:graphic>
          <a:graphicData uri="http://schemas.openxmlformats.org/drawingml/2006/table">
            <a:tbl>
              <a:tblPr>
                <a:noFill/>
                <a:tableStyleId>{64C0411A-2C98-4147-9FEC-7885B5909016}</a:tableStyleId>
              </a:tblPr>
              <a:tblGrid>
                <a:gridCol w="1554475"/>
                <a:gridCol w="2011675"/>
                <a:gridCol w="4572000"/>
              </a:tblGrid>
              <a:tr h="411475">
                <a:tc>
                  <a:txBody>
                    <a:bodyPr/>
                    <a:lstStyle/>
                    <a:p>
                      <a:pPr indent="0" lvl="0" marL="0" marR="0" rtl="0" algn="ctr">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Role</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Flag in Database</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Main Capability</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r>
              <a:tr h="502925">
                <a:tc>
                  <a:txBody>
                    <a:bodyPr/>
                    <a:lstStyle/>
                    <a:p>
                      <a:pPr indent="0" lvl="0" marL="0" marR="0" rtl="0" algn="l">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Student</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isStudent: true</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Participate, submit, leaderboard, profile</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Admin</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isAdmin: true</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Create contests, manage students and articles</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Super Admin</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isSuper: true</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Create/delete admins and oversee contests</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cxnSp>
        <p:nvCxnSpPr>
          <p:cNvPr id="121" name="Google Shape;121;p15"/>
          <p:cNvCxnSpPr/>
          <p:nvPr/>
        </p:nvCxnSpPr>
        <p:spPr>
          <a:xfrm>
            <a:off x="1691640" y="4151376"/>
            <a:ext cx="274320" cy="0"/>
          </a:xfrm>
          <a:prstGeom prst="straightConnector1">
            <a:avLst/>
          </a:prstGeom>
          <a:noFill/>
          <a:ln cap="flat" cmpd="sng" w="11425">
            <a:solidFill>
              <a:srgbClr val="000000"/>
            </a:solidFill>
            <a:prstDash val="solid"/>
            <a:round/>
            <a:headEnd len="sm" w="sm" type="none"/>
            <a:tailEnd len="med" w="med" type="triangle"/>
          </a:ln>
        </p:spPr>
      </p:cxnSp>
      <p:cxnSp>
        <p:nvCxnSpPr>
          <p:cNvPr id="122" name="Google Shape;122;p15"/>
          <p:cNvCxnSpPr/>
          <p:nvPr/>
        </p:nvCxnSpPr>
        <p:spPr>
          <a:xfrm>
            <a:off x="3063240" y="4151376"/>
            <a:ext cx="274320" cy="0"/>
          </a:xfrm>
          <a:prstGeom prst="straightConnector1">
            <a:avLst/>
          </a:prstGeom>
          <a:noFill/>
          <a:ln cap="flat" cmpd="sng" w="11425">
            <a:solidFill>
              <a:srgbClr val="000000"/>
            </a:solidFill>
            <a:prstDash val="solid"/>
            <a:round/>
            <a:headEnd len="sm" w="sm" type="none"/>
            <a:tailEnd len="med" w="med" type="triangle"/>
          </a:ln>
        </p:spPr>
      </p:cxnSp>
      <p:cxnSp>
        <p:nvCxnSpPr>
          <p:cNvPr id="123" name="Google Shape;123;p15"/>
          <p:cNvCxnSpPr/>
          <p:nvPr/>
        </p:nvCxnSpPr>
        <p:spPr>
          <a:xfrm>
            <a:off x="4434840" y="4151376"/>
            <a:ext cx="274320" cy="0"/>
          </a:xfrm>
          <a:prstGeom prst="straightConnector1">
            <a:avLst/>
          </a:prstGeom>
          <a:noFill/>
          <a:ln cap="flat" cmpd="sng" w="11425">
            <a:solidFill>
              <a:srgbClr val="000000"/>
            </a:solidFill>
            <a:prstDash val="solid"/>
            <a:round/>
            <a:headEnd len="sm" w="sm" type="none"/>
            <a:tailEnd len="med" w="med" type="triangle"/>
          </a:ln>
        </p:spPr>
      </p:cxnSp>
      <p:cxnSp>
        <p:nvCxnSpPr>
          <p:cNvPr id="124" name="Google Shape;124;p15"/>
          <p:cNvCxnSpPr/>
          <p:nvPr/>
        </p:nvCxnSpPr>
        <p:spPr>
          <a:xfrm>
            <a:off x="5806440" y="4151376"/>
            <a:ext cx="274320" cy="0"/>
          </a:xfrm>
          <a:prstGeom prst="straightConnector1">
            <a:avLst/>
          </a:prstGeom>
          <a:noFill/>
          <a:ln cap="flat" cmpd="sng" w="11425">
            <a:solidFill>
              <a:srgbClr val="000000"/>
            </a:solidFill>
            <a:prstDash val="solid"/>
            <a:round/>
            <a:headEnd len="sm" w="sm" type="none"/>
            <a:tailEnd len="med" w="med" type="triangle"/>
          </a:ln>
        </p:spPr>
      </p:cxnSp>
      <p:cxnSp>
        <p:nvCxnSpPr>
          <p:cNvPr id="125" name="Google Shape;125;p15"/>
          <p:cNvCxnSpPr/>
          <p:nvPr/>
        </p:nvCxnSpPr>
        <p:spPr>
          <a:xfrm>
            <a:off x="7178040" y="4151376"/>
            <a:ext cx="274320" cy="0"/>
          </a:xfrm>
          <a:prstGeom prst="straightConnector1">
            <a:avLst/>
          </a:prstGeom>
          <a:noFill/>
          <a:ln cap="flat" cmpd="sng" w="11425">
            <a:solidFill>
              <a:srgbClr val="000000"/>
            </a:solidFill>
            <a:prstDash val="solid"/>
            <a:round/>
            <a:headEnd len="sm" w="sm" type="none"/>
            <a:tailEnd len="med" w="med" type="triangle"/>
          </a:ln>
        </p:spPr>
      </p:cxnSp>
      <p:sp>
        <p:nvSpPr>
          <p:cNvPr id="126" name="Google Shape;126;p15"/>
          <p:cNvSpPr/>
          <p:nvPr/>
        </p:nvSpPr>
        <p:spPr>
          <a:xfrm>
            <a:off x="594360" y="3886200"/>
            <a:ext cx="1097280" cy="530352"/>
          </a:xfrm>
          <a:prstGeom prst="roundRect">
            <a:avLst>
              <a:gd fmla="val 10345" name="adj"/>
            </a:avLst>
          </a:prstGeom>
          <a:solidFill>
            <a:srgbClr val="FFFFFF"/>
          </a:solidFill>
          <a:ln cap="flat" cmpd="sng" w="101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7" name="Google Shape;127;p15"/>
          <p:cNvSpPr/>
          <p:nvPr/>
        </p:nvSpPr>
        <p:spPr>
          <a:xfrm>
            <a:off x="621792" y="3959352"/>
            <a:ext cx="1042416" cy="420624"/>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Login</a:t>
            </a:r>
            <a:endParaRPr sz="1020">
              <a:solidFill>
                <a:schemeClr val="dk1"/>
              </a:solidFill>
              <a:latin typeface="Arial"/>
              <a:ea typeface="Arial"/>
              <a:cs typeface="Arial"/>
              <a:sym typeface="Arial"/>
            </a:endParaRPr>
          </a:p>
          <a:p>
            <a:pPr indent="0" lvl="0" marL="0" marR="0" rtl="0" algn="ctr">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Form</a:t>
            </a:r>
            <a:endParaRPr sz="1020">
              <a:solidFill>
                <a:schemeClr val="dk1"/>
              </a:solidFill>
              <a:latin typeface="Arial"/>
              <a:ea typeface="Arial"/>
              <a:cs typeface="Arial"/>
              <a:sym typeface="Arial"/>
            </a:endParaRPr>
          </a:p>
        </p:txBody>
      </p:sp>
      <p:sp>
        <p:nvSpPr>
          <p:cNvPr id="128" name="Google Shape;128;p15"/>
          <p:cNvSpPr/>
          <p:nvPr/>
        </p:nvSpPr>
        <p:spPr>
          <a:xfrm>
            <a:off x="1965960" y="3886200"/>
            <a:ext cx="1097280" cy="530352"/>
          </a:xfrm>
          <a:prstGeom prst="roundRect">
            <a:avLst>
              <a:gd fmla="val 10345" name="adj"/>
            </a:avLst>
          </a:prstGeom>
          <a:solidFill>
            <a:srgbClr val="FFFFFF"/>
          </a:solidFill>
          <a:ln cap="flat" cmpd="sng" w="101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 name="Google Shape;129;p15"/>
          <p:cNvSpPr/>
          <p:nvPr/>
        </p:nvSpPr>
        <p:spPr>
          <a:xfrm>
            <a:off x="1993392" y="3959352"/>
            <a:ext cx="1042416" cy="420624"/>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Role Login</a:t>
            </a:r>
            <a:endParaRPr sz="1020">
              <a:solidFill>
                <a:schemeClr val="dk1"/>
              </a:solidFill>
              <a:latin typeface="Arial"/>
              <a:ea typeface="Arial"/>
              <a:cs typeface="Arial"/>
              <a:sym typeface="Arial"/>
            </a:endParaRPr>
          </a:p>
          <a:p>
            <a:pPr indent="0" lvl="0" marL="0" marR="0" rtl="0" algn="ctr">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API</a:t>
            </a:r>
            <a:endParaRPr sz="1020">
              <a:solidFill>
                <a:schemeClr val="dk1"/>
              </a:solidFill>
              <a:latin typeface="Arial"/>
              <a:ea typeface="Arial"/>
              <a:cs typeface="Arial"/>
              <a:sym typeface="Arial"/>
            </a:endParaRPr>
          </a:p>
        </p:txBody>
      </p:sp>
      <p:sp>
        <p:nvSpPr>
          <p:cNvPr id="130" name="Google Shape;130;p15"/>
          <p:cNvSpPr/>
          <p:nvPr/>
        </p:nvSpPr>
        <p:spPr>
          <a:xfrm>
            <a:off x="3337560" y="3886200"/>
            <a:ext cx="1097280" cy="530352"/>
          </a:xfrm>
          <a:prstGeom prst="roundRect">
            <a:avLst>
              <a:gd fmla="val 10345" name="adj"/>
            </a:avLst>
          </a:prstGeom>
          <a:solidFill>
            <a:srgbClr val="FFFFFF"/>
          </a:solidFill>
          <a:ln cap="flat" cmpd="sng" w="101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 name="Google Shape;131;p15"/>
          <p:cNvSpPr/>
          <p:nvPr/>
        </p:nvSpPr>
        <p:spPr>
          <a:xfrm>
            <a:off x="3364992" y="3959352"/>
            <a:ext cx="1042416" cy="420624"/>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Validate</a:t>
            </a:r>
            <a:endParaRPr sz="1020">
              <a:solidFill>
                <a:schemeClr val="dk1"/>
              </a:solidFill>
              <a:latin typeface="Arial"/>
              <a:ea typeface="Arial"/>
              <a:cs typeface="Arial"/>
              <a:sym typeface="Arial"/>
            </a:endParaRPr>
          </a:p>
          <a:p>
            <a:pPr indent="0" lvl="0" marL="0" marR="0" rtl="0" algn="ctr">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Firestore</a:t>
            </a:r>
            <a:endParaRPr sz="1020">
              <a:solidFill>
                <a:schemeClr val="dk1"/>
              </a:solidFill>
              <a:latin typeface="Arial"/>
              <a:ea typeface="Arial"/>
              <a:cs typeface="Arial"/>
              <a:sym typeface="Arial"/>
            </a:endParaRPr>
          </a:p>
        </p:txBody>
      </p:sp>
      <p:sp>
        <p:nvSpPr>
          <p:cNvPr id="132" name="Google Shape;132;p15"/>
          <p:cNvSpPr/>
          <p:nvPr/>
        </p:nvSpPr>
        <p:spPr>
          <a:xfrm>
            <a:off x="4709160" y="3886200"/>
            <a:ext cx="1097280" cy="530352"/>
          </a:xfrm>
          <a:prstGeom prst="roundRect">
            <a:avLst>
              <a:gd fmla="val 10345" name="adj"/>
            </a:avLst>
          </a:prstGeom>
          <a:solidFill>
            <a:srgbClr val="FFFFFF"/>
          </a:solidFill>
          <a:ln cap="flat" cmpd="sng" w="101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 name="Google Shape;133;p15"/>
          <p:cNvSpPr/>
          <p:nvPr/>
        </p:nvSpPr>
        <p:spPr>
          <a:xfrm>
            <a:off x="4736592" y="3959352"/>
            <a:ext cx="1042416" cy="420624"/>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Sign JWT</a:t>
            </a:r>
            <a:endParaRPr sz="1020">
              <a:solidFill>
                <a:schemeClr val="dk1"/>
              </a:solidFill>
              <a:latin typeface="Arial"/>
              <a:ea typeface="Arial"/>
              <a:cs typeface="Arial"/>
              <a:sym typeface="Arial"/>
            </a:endParaRPr>
          </a:p>
          <a:p>
            <a:pPr indent="0" lvl="0" marL="0" marR="0" rtl="0" algn="ctr">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Cookie</a:t>
            </a:r>
            <a:endParaRPr sz="1020">
              <a:solidFill>
                <a:schemeClr val="dk1"/>
              </a:solidFill>
              <a:latin typeface="Arial"/>
              <a:ea typeface="Arial"/>
              <a:cs typeface="Arial"/>
              <a:sym typeface="Arial"/>
            </a:endParaRPr>
          </a:p>
        </p:txBody>
      </p:sp>
      <p:sp>
        <p:nvSpPr>
          <p:cNvPr id="134" name="Google Shape;134;p15"/>
          <p:cNvSpPr/>
          <p:nvPr/>
        </p:nvSpPr>
        <p:spPr>
          <a:xfrm>
            <a:off x="6080760" y="3886200"/>
            <a:ext cx="1097280" cy="530352"/>
          </a:xfrm>
          <a:prstGeom prst="roundRect">
            <a:avLst>
              <a:gd fmla="val 10345" name="adj"/>
            </a:avLst>
          </a:prstGeom>
          <a:solidFill>
            <a:srgbClr val="FFFFFF"/>
          </a:solidFill>
          <a:ln cap="flat" cmpd="sng" w="101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5" name="Google Shape;135;p15"/>
          <p:cNvSpPr/>
          <p:nvPr/>
        </p:nvSpPr>
        <p:spPr>
          <a:xfrm>
            <a:off x="6108192" y="3959352"/>
            <a:ext cx="1042416" cy="420624"/>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Role</a:t>
            </a:r>
            <a:endParaRPr sz="1020">
              <a:solidFill>
                <a:schemeClr val="dk1"/>
              </a:solidFill>
              <a:latin typeface="Arial"/>
              <a:ea typeface="Arial"/>
              <a:cs typeface="Arial"/>
              <a:sym typeface="Arial"/>
            </a:endParaRPr>
          </a:p>
          <a:p>
            <a:pPr indent="0" lvl="0" marL="0" marR="0" rtl="0" algn="ctr">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Middleware</a:t>
            </a:r>
            <a:endParaRPr sz="1020">
              <a:solidFill>
                <a:schemeClr val="dk1"/>
              </a:solidFill>
              <a:latin typeface="Arial"/>
              <a:ea typeface="Arial"/>
              <a:cs typeface="Arial"/>
              <a:sym typeface="Arial"/>
            </a:endParaRPr>
          </a:p>
        </p:txBody>
      </p:sp>
      <p:sp>
        <p:nvSpPr>
          <p:cNvPr id="136" name="Google Shape;136;p15"/>
          <p:cNvSpPr/>
          <p:nvPr/>
        </p:nvSpPr>
        <p:spPr>
          <a:xfrm>
            <a:off x="7452360" y="3886200"/>
            <a:ext cx="1097280" cy="530352"/>
          </a:xfrm>
          <a:prstGeom prst="roundRect">
            <a:avLst>
              <a:gd fmla="val 10345" name="adj"/>
            </a:avLst>
          </a:prstGeom>
          <a:solidFill>
            <a:srgbClr val="FFFFFF"/>
          </a:solidFill>
          <a:ln cap="flat" cmpd="sng" w="101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7" name="Google Shape;137;p15"/>
          <p:cNvSpPr/>
          <p:nvPr/>
        </p:nvSpPr>
        <p:spPr>
          <a:xfrm>
            <a:off x="7479792" y="3959352"/>
            <a:ext cx="1042416" cy="420624"/>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Protected</a:t>
            </a:r>
            <a:endParaRPr sz="1020">
              <a:solidFill>
                <a:schemeClr val="dk1"/>
              </a:solidFill>
              <a:latin typeface="Arial"/>
              <a:ea typeface="Arial"/>
              <a:cs typeface="Arial"/>
              <a:sym typeface="Arial"/>
            </a:endParaRPr>
          </a:p>
          <a:p>
            <a:pPr indent="0" lvl="0" marL="0" marR="0" rtl="0" algn="ctr">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Page/API</a:t>
            </a:r>
            <a:endParaRPr sz="1020">
              <a:solidFill>
                <a:schemeClr val="dk1"/>
              </a:solidFill>
              <a:latin typeface="Arial"/>
              <a:ea typeface="Arial"/>
              <a:cs typeface="Arial"/>
              <a:sym typeface="Arial"/>
            </a:endParaRPr>
          </a:p>
        </p:txBody>
      </p:sp>
      <p:sp>
        <p:nvSpPr>
          <p:cNvPr id="138" name="Google Shape;138;p15"/>
          <p:cNvSpPr/>
          <p:nvPr/>
        </p:nvSpPr>
        <p:spPr>
          <a:xfrm>
            <a:off x="594360" y="4892040"/>
            <a:ext cx="7955280" cy="960120"/>
          </a:xfrm>
          <a:prstGeom prst="rect">
            <a:avLst/>
          </a:prstGeom>
          <a:noFill/>
          <a:ln>
            <a:noFill/>
          </a:ln>
        </p:spPr>
        <p:txBody>
          <a:bodyPr anchorCtr="0" anchor="t" bIns="750" lIns="750" spcFirstLastPara="1" rIns="750" wrap="square" tIns="750">
            <a:noAutofit/>
          </a:bodyPr>
          <a:lstStyle/>
          <a:p>
            <a:pPr indent="0" lvl="0" marL="0" marR="0" rtl="0" algn="l">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Security Logic</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The backend verifies the cookie on protected routes and checks role flags before allowing access.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httpOnly cookies reduce the risk of client-side token theft.</a:t>
            </a:r>
            <a:br>
              <a:rPr lang="en-US" sz="1400">
                <a:solidFill>
                  <a:srgbClr val="000000"/>
                </a:solidFill>
                <a:latin typeface="Arial"/>
                <a:ea typeface="Arial"/>
                <a:cs typeface="Arial"/>
                <a:sym typeface="Arial"/>
              </a:rPr>
            </a:br>
            <a:endParaRPr sz="124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6"/>
          <p:cNvSpPr/>
          <p:nvPr/>
        </p:nvSpPr>
        <p:spPr>
          <a:xfrm>
            <a:off x="274320" y="155448"/>
            <a:ext cx="8595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Arial Narrow"/>
              <a:buNone/>
            </a:pPr>
            <a:r>
              <a:rPr lang="en-US" sz="3400">
                <a:solidFill>
                  <a:srgbClr val="000000"/>
                </a:solidFill>
                <a:latin typeface="Arial Narrow"/>
                <a:ea typeface="Arial Narrow"/>
                <a:cs typeface="Arial Narrow"/>
                <a:sym typeface="Arial Narrow"/>
              </a:rPr>
              <a:t>Frontend Routing and State Management</a:t>
            </a:r>
            <a:endParaRPr sz="3000">
              <a:solidFill>
                <a:schemeClr val="dk1"/>
              </a:solidFill>
              <a:latin typeface="Arial"/>
              <a:ea typeface="Arial"/>
              <a:cs typeface="Arial"/>
              <a:sym typeface="Arial"/>
            </a:endParaRPr>
          </a:p>
        </p:txBody>
      </p:sp>
      <p:sp>
        <p:nvSpPr>
          <p:cNvPr id="145" name="Google Shape;145;p16"/>
          <p:cNvSpPr/>
          <p:nvPr/>
        </p:nvSpPr>
        <p:spPr>
          <a:xfrm>
            <a:off x="228600" y="868680"/>
            <a:ext cx="8686800" cy="5532120"/>
          </a:xfrm>
          <a:prstGeom prst="rect">
            <a:avLst/>
          </a:prstGeom>
          <a:solidFill>
            <a:srgbClr val="FFFFFF">
              <a:alpha val="0"/>
            </a:srgbClr>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6" name="Google Shape;146;p16"/>
          <p:cNvSpPr/>
          <p:nvPr/>
        </p:nvSpPr>
        <p:spPr>
          <a:xfrm>
            <a:off x="411480" y="1051560"/>
            <a:ext cx="8321040" cy="5166360"/>
          </a:xfrm>
          <a:prstGeom prst="rect">
            <a:avLst/>
          </a:prstGeom>
          <a:noFill/>
          <a:ln>
            <a:noFill/>
          </a:ln>
        </p:spPr>
        <p:txBody>
          <a:bodyPr anchorCtr="0" anchor="t" bIns="750" lIns="750" spcFirstLastPara="1" rIns="750" wrap="square" tIns="750">
            <a:noAutofit/>
          </a:bodyPr>
          <a:lstStyle/>
          <a:p>
            <a:pPr indent="0" lvl="0" marL="0" marR="0" rtl="0" algn="l">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Public and Role-Based Routes</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Public routes include landing page and login pages.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Admin routes include dashboard, contest creation, question creation, contest management, article management, participant management, profile, and problem bank.</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Student routes include home, contests, preview, quiz, coding contest page, codeground, leaderboard, practice, profile, and submissions.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Super admin routes include dashboard, user management, contest oversight, and profile.</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Shared State</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ContestContext stores events, loading states, admin information, student contests, articles, authentication checks, and submission history.</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AlertContext handles global success, error, warning, and information notifications.</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Benefit</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Centralized state reduces repeated API calls and makes new pages easier to extend without duplicating logic.</a:t>
            </a:r>
            <a:br>
              <a:rPr lang="en-US" sz="1400">
                <a:solidFill>
                  <a:srgbClr val="000000"/>
                </a:solidFill>
                <a:latin typeface="Arial"/>
                <a:ea typeface="Arial"/>
                <a:cs typeface="Arial"/>
                <a:sym typeface="Arial"/>
              </a:rPr>
            </a:br>
            <a:endParaRPr sz="1240">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p:nvPr/>
        </p:nvSpPr>
        <p:spPr>
          <a:xfrm>
            <a:off x="274320" y="155448"/>
            <a:ext cx="8595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Arial Narrow"/>
              <a:buNone/>
            </a:pPr>
            <a:r>
              <a:rPr lang="en-US" sz="3400">
                <a:solidFill>
                  <a:srgbClr val="000000"/>
                </a:solidFill>
                <a:latin typeface="Arial Narrow"/>
                <a:ea typeface="Arial Narrow"/>
                <a:cs typeface="Arial Narrow"/>
                <a:sym typeface="Arial Narrow"/>
              </a:rPr>
              <a:t>Contest Lifecycle Workflow</a:t>
            </a:r>
            <a:endParaRPr sz="3000">
              <a:solidFill>
                <a:schemeClr val="dk1"/>
              </a:solidFill>
              <a:latin typeface="Arial"/>
              <a:ea typeface="Arial"/>
              <a:cs typeface="Arial"/>
              <a:sym typeface="Arial"/>
            </a:endParaRPr>
          </a:p>
        </p:txBody>
      </p:sp>
      <p:sp>
        <p:nvSpPr>
          <p:cNvPr id="153" name="Google Shape;153;p17"/>
          <p:cNvSpPr/>
          <p:nvPr/>
        </p:nvSpPr>
        <p:spPr>
          <a:xfrm>
            <a:off x="228600" y="868680"/>
            <a:ext cx="8686800" cy="5532120"/>
          </a:xfrm>
          <a:prstGeom prst="rect">
            <a:avLst/>
          </a:prstGeom>
          <a:solidFill>
            <a:srgbClr val="FFFFFF">
              <a:alpha val="0"/>
            </a:srgbClr>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4" name="Google Shape;154;p17"/>
          <p:cNvSpPr/>
          <p:nvPr/>
        </p:nvSpPr>
        <p:spPr>
          <a:xfrm>
            <a:off x="502920" y="1060704"/>
            <a:ext cx="8138160" cy="914400"/>
          </a:xfrm>
          <a:prstGeom prst="rect">
            <a:avLst/>
          </a:prstGeom>
          <a:noFill/>
          <a:ln>
            <a:noFill/>
          </a:ln>
        </p:spPr>
        <p:txBody>
          <a:bodyPr anchorCtr="0" anchor="t" bIns="750" lIns="750" spcFirstLastPara="1" rIns="750" wrap="square" tIns="750">
            <a:noAutofit/>
          </a:bodyPr>
          <a:lstStyle/>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The contest lifecycle begins when an admin creates an event. Based on the event type, the admin adds quiz questions or coding problems. Students participate, submit answers or code, and the backend evaluates the result.</a:t>
            </a:r>
            <a:endParaRPr sz="1240">
              <a:solidFill>
                <a:schemeClr val="dk1"/>
              </a:solidFill>
              <a:latin typeface="Arial"/>
              <a:ea typeface="Arial"/>
              <a:cs typeface="Arial"/>
              <a:sym typeface="Arial"/>
            </a:endParaRPr>
          </a:p>
        </p:txBody>
      </p:sp>
      <p:pic>
        <p:nvPicPr>
          <p:cNvPr descr="/mnt/data/syntax_assets/contest_workflow_crop.png" id="155" name="Google Shape;155;p17"/>
          <p:cNvPicPr preferRelativeResize="0"/>
          <p:nvPr/>
        </p:nvPicPr>
        <p:blipFill rotWithShape="1">
          <a:blip r:embed="rId3">
            <a:alphaModFix/>
          </a:blip>
          <a:srcRect b="0" l="0" r="0" t="0"/>
          <a:stretch/>
        </p:blipFill>
        <p:spPr>
          <a:xfrm>
            <a:off x="2770346" y="2148840"/>
            <a:ext cx="3603308" cy="2377440"/>
          </a:xfrm>
          <a:prstGeom prst="rect">
            <a:avLst/>
          </a:prstGeom>
          <a:noFill/>
          <a:ln>
            <a:noFill/>
          </a:ln>
        </p:spPr>
      </p:pic>
      <p:sp>
        <p:nvSpPr>
          <p:cNvPr id="156" name="Google Shape;156;p17"/>
          <p:cNvSpPr/>
          <p:nvPr/>
        </p:nvSpPr>
        <p:spPr>
          <a:xfrm>
            <a:off x="640080" y="4846320"/>
            <a:ext cx="7955280" cy="1143000"/>
          </a:xfrm>
          <a:prstGeom prst="rect">
            <a:avLst/>
          </a:prstGeom>
          <a:noFill/>
          <a:ln>
            <a:noFill/>
          </a:ln>
        </p:spPr>
        <p:txBody>
          <a:bodyPr anchorCtr="0" anchor="t" bIns="625" lIns="625" spcFirstLastPara="1" rIns="625" wrap="square" tIns="625">
            <a:noAutofit/>
          </a:bodyPr>
          <a:lstStyle/>
          <a:p>
            <a:pPr indent="-152400" lvl="0" marL="152400" marR="0" rtl="0" algn="l">
              <a:spcBef>
                <a:spcPts val="0"/>
              </a:spcBef>
              <a:spcAft>
                <a:spcPts val="0"/>
              </a:spcAft>
              <a:buClr>
                <a:srgbClr val="000000"/>
              </a:buClr>
              <a:buSzPts val="1400"/>
              <a:buFont typeface="Arial"/>
              <a:buChar char="•"/>
            </a:pPr>
            <a:r>
              <a:rPr lang="en-US" sz="1400">
                <a:solidFill>
                  <a:srgbClr val="000000"/>
                </a:solidFill>
                <a:latin typeface="Arial"/>
                <a:ea typeface="Arial"/>
                <a:cs typeface="Arial"/>
                <a:sym typeface="Arial"/>
              </a:rPr>
              <a:t>Create contest → Add questions or problems → Activate event → Student participates → Evaluate submissions → Store result and leaderboard.</a:t>
            </a:r>
            <a:br>
              <a:rPr lang="en-US" sz="1400">
                <a:solidFill>
                  <a:srgbClr val="000000"/>
                </a:solidFill>
                <a:latin typeface="Arial"/>
                <a:ea typeface="Arial"/>
                <a:cs typeface="Arial"/>
                <a:sym typeface="Arial"/>
              </a:rPr>
            </a:br>
            <a:endParaRPr sz="1240">
              <a:solidFill>
                <a:schemeClr val="dk1"/>
              </a:solidFill>
              <a:latin typeface="Arial"/>
              <a:ea typeface="Arial"/>
              <a:cs typeface="Arial"/>
              <a:sym typeface="Arial"/>
            </a:endParaRPr>
          </a:p>
          <a:p>
            <a:pPr indent="-152400" lvl="0" marL="152400" marR="0" rtl="0" algn="l">
              <a:spcBef>
                <a:spcPts val="0"/>
              </a:spcBef>
              <a:spcAft>
                <a:spcPts val="0"/>
              </a:spcAft>
              <a:buClr>
                <a:srgbClr val="000000"/>
              </a:buClr>
              <a:buSzPts val="1400"/>
              <a:buFont typeface="Arial"/>
              <a:buChar char="•"/>
            </a:pPr>
            <a:r>
              <a:rPr lang="en-US" sz="1400">
                <a:solidFill>
                  <a:srgbClr val="000000"/>
                </a:solidFill>
                <a:latin typeface="Arial"/>
                <a:ea typeface="Arial"/>
                <a:cs typeface="Arial"/>
                <a:sym typeface="Arial"/>
              </a:rPr>
              <a:t>Final scores are stored and shown in leaderboard and submission pages.</a:t>
            </a:r>
            <a:endParaRPr sz="124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8"/>
          <p:cNvSpPr/>
          <p:nvPr/>
        </p:nvSpPr>
        <p:spPr>
          <a:xfrm>
            <a:off x="274320" y="155448"/>
            <a:ext cx="8595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Arial Narrow"/>
              <a:buNone/>
            </a:pPr>
            <a:r>
              <a:rPr lang="en-US" sz="3400">
                <a:solidFill>
                  <a:srgbClr val="000000"/>
                </a:solidFill>
                <a:latin typeface="Arial Narrow"/>
                <a:ea typeface="Arial Narrow"/>
                <a:cs typeface="Arial Narrow"/>
                <a:sym typeface="Arial Narrow"/>
              </a:rPr>
              <a:t>Code Execution and Submission Flow</a:t>
            </a:r>
            <a:endParaRPr sz="3000">
              <a:solidFill>
                <a:schemeClr val="dk1"/>
              </a:solidFill>
              <a:latin typeface="Arial"/>
              <a:ea typeface="Arial"/>
              <a:cs typeface="Arial"/>
              <a:sym typeface="Arial"/>
            </a:endParaRPr>
          </a:p>
        </p:txBody>
      </p:sp>
      <p:sp>
        <p:nvSpPr>
          <p:cNvPr id="163" name="Google Shape;163;p18"/>
          <p:cNvSpPr/>
          <p:nvPr/>
        </p:nvSpPr>
        <p:spPr>
          <a:xfrm>
            <a:off x="228600" y="868680"/>
            <a:ext cx="8686800" cy="5532120"/>
          </a:xfrm>
          <a:prstGeom prst="rect">
            <a:avLst/>
          </a:prstGeom>
          <a:solidFill>
            <a:srgbClr val="FFFFFF">
              <a:alpha val="0"/>
            </a:srgbClr>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4" name="Google Shape;164;p18"/>
          <p:cNvSpPr/>
          <p:nvPr/>
        </p:nvSpPr>
        <p:spPr>
          <a:xfrm>
            <a:off x="502920" y="1051560"/>
            <a:ext cx="8138160" cy="2971800"/>
          </a:xfrm>
          <a:prstGeom prst="rect">
            <a:avLst/>
          </a:prstGeom>
          <a:noFill/>
          <a:ln>
            <a:noFill/>
          </a:ln>
        </p:spPr>
        <p:txBody>
          <a:bodyPr anchorCtr="0" anchor="t" bIns="750" lIns="750" spcFirstLastPara="1" rIns="750" wrap="square" tIns="750">
            <a:noAutofit/>
          </a:bodyPr>
          <a:lstStyle/>
          <a:p>
            <a:pPr indent="0" lvl="0" marL="0" marR="0" rtl="0" algn="l">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Open Test Execution</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Student writes code in the frontend editor and selects a supported programming language.</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Frontend sends code to the backend; backend formats the Judge0 request and returns pass or fail results for visible test cases.</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Final Submission</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Backend evaluates all test cases, including hidden test cases.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Final result is encrypted and stored so students cannot casually modify submission data from the browser.</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Hidden test cases and correct answers are not exposed to the frontend.</a:t>
            </a:r>
            <a:br>
              <a:rPr lang="en-US" sz="1400">
                <a:solidFill>
                  <a:srgbClr val="000000"/>
                </a:solidFill>
                <a:latin typeface="Arial"/>
                <a:ea typeface="Arial"/>
                <a:cs typeface="Arial"/>
                <a:sym typeface="Arial"/>
              </a:rPr>
            </a:br>
            <a:endParaRPr sz="1240">
              <a:solidFill>
                <a:schemeClr val="dk1"/>
              </a:solidFill>
              <a:latin typeface="Arial"/>
              <a:ea typeface="Arial"/>
              <a:cs typeface="Arial"/>
              <a:sym typeface="Arial"/>
            </a:endParaRPr>
          </a:p>
        </p:txBody>
      </p:sp>
      <p:pic>
        <p:nvPicPr>
          <p:cNvPr descr="/mnt/data/syntax_assets/codeflow_crop.png" id="165" name="Google Shape;165;p18"/>
          <p:cNvPicPr preferRelativeResize="0"/>
          <p:nvPr/>
        </p:nvPicPr>
        <p:blipFill rotWithShape="1">
          <a:blip r:embed="rId3">
            <a:alphaModFix/>
          </a:blip>
          <a:srcRect b="0" l="0" r="0" t="0"/>
          <a:stretch/>
        </p:blipFill>
        <p:spPr>
          <a:xfrm>
            <a:off x="1837649" y="4343400"/>
            <a:ext cx="5468702" cy="822960"/>
          </a:xfrm>
          <a:prstGeom prst="rect">
            <a:avLst/>
          </a:prstGeom>
          <a:noFill/>
          <a:ln>
            <a:noFill/>
          </a:ln>
        </p:spPr>
      </p:pic>
      <p:sp>
        <p:nvSpPr>
          <p:cNvPr id="166" name="Google Shape;166;p18"/>
          <p:cNvSpPr/>
          <p:nvPr/>
        </p:nvSpPr>
        <p:spPr>
          <a:xfrm>
            <a:off x="548640" y="5440680"/>
            <a:ext cx="8046720" cy="502920"/>
          </a:xfrm>
          <a:prstGeom prst="rect">
            <a:avLst/>
          </a:prstGeom>
          <a:noFill/>
          <a:ln>
            <a:noFill/>
          </a:ln>
        </p:spPr>
        <p:txBody>
          <a:bodyPr anchorCtr="0" anchor="t" bIns="750" lIns="750" spcFirstLastPara="1" rIns="750" wrap="square" tIns="750">
            <a:noAutofit/>
          </a:bodyPr>
          <a:lstStyle/>
          <a:p>
            <a:pPr indent="0" lvl="0" marL="0" marR="0" rtl="0" algn="l">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Supported languages include Python 3, Java, C++17, C11, and JavaScript.</a:t>
            </a:r>
            <a:endParaRPr sz="124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9"/>
          <p:cNvSpPr/>
          <p:nvPr/>
        </p:nvSpPr>
        <p:spPr>
          <a:xfrm>
            <a:off x="274320" y="155448"/>
            <a:ext cx="8595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Arial Narrow"/>
              <a:buNone/>
            </a:pPr>
            <a:r>
              <a:rPr lang="en-US" sz="3400">
                <a:solidFill>
                  <a:srgbClr val="000000"/>
                </a:solidFill>
                <a:latin typeface="Arial Narrow"/>
                <a:ea typeface="Arial Narrow"/>
                <a:cs typeface="Arial Narrow"/>
                <a:sym typeface="Arial Narrow"/>
              </a:rPr>
              <a:t>Database Schema and Functional Modules</a:t>
            </a:r>
            <a:endParaRPr sz="3000">
              <a:solidFill>
                <a:schemeClr val="dk1"/>
              </a:solidFill>
              <a:latin typeface="Arial"/>
              <a:ea typeface="Arial"/>
              <a:cs typeface="Arial"/>
              <a:sym typeface="Arial"/>
            </a:endParaRPr>
          </a:p>
        </p:txBody>
      </p:sp>
      <p:sp>
        <p:nvSpPr>
          <p:cNvPr id="173" name="Google Shape;173;p19"/>
          <p:cNvSpPr/>
          <p:nvPr/>
        </p:nvSpPr>
        <p:spPr>
          <a:xfrm>
            <a:off x="228600" y="822960"/>
            <a:ext cx="8686800" cy="5715000"/>
          </a:xfrm>
          <a:prstGeom prst="rect">
            <a:avLst/>
          </a:prstGeom>
          <a:solidFill>
            <a:srgbClr val="FFFFFF">
              <a:alpha val="0"/>
            </a:srgbClr>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4" name="Google Shape;174;p19"/>
          <p:cNvSpPr/>
          <p:nvPr/>
        </p:nvSpPr>
        <p:spPr>
          <a:xfrm>
            <a:off x="502920" y="987552"/>
            <a:ext cx="3749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Important Firestore Collections</a:t>
            </a:r>
            <a:endParaRPr sz="1240">
              <a:solidFill>
                <a:schemeClr val="dk1"/>
              </a:solidFill>
              <a:latin typeface="Arial"/>
              <a:ea typeface="Arial"/>
              <a:cs typeface="Arial"/>
              <a:sym typeface="Arial"/>
            </a:endParaRPr>
          </a:p>
        </p:txBody>
      </p:sp>
      <p:graphicFrame>
        <p:nvGraphicFramePr>
          <p:cNvPr id="175" name="Google Shape;175;p19"/>
          <p:cNvGraphicFramePr/>
          <p:nvPr/>
        </p:nvGraphicFramePr>
        <p:xfrm>
          <a:off x="502920" y="1298448"/>
          <a:ext cx="3000000" cy="3000000"/>
        </p:xfrm>
        <a:graphic>
          <a:graphicData uri="http://schemas.openxmlformats.org/drawingml/2006/table">
            <a:tbl>
              <a:tblPr>
                <a:noFill/>
                <a:tableStyleId>{64C0411A-2C98-4147-9FEC-7885B5909016}</a:tableStyleId>
              </a:tblPr>
              <a:tblGrid>
                <a:gridCol w="1234450"/>
                <a:gridCol w="2651750"/>
              </a:tblGrid>
              <a:tr h="310900">
                <a:tc>
                  <a:txBody>
                    <a:bodyPr/>
                    <a:lstStyle/>
                    <a:p>
                      <a:pPr indent="0" lvl="0" marL="0" marR="0" rtl="0" algn="ctr">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Collection</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Purpose</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r>
              <a:tr h="502925">
                <a:tc>
                  <a:txBody>
                    <a:bodyPr/>
                    <a:lstStyle/>
                    <a:p>
                      <a:pPr indent="0" lvl="0" marL="0" marR="0" rtl="0" algn="l">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users</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User details, roles, profile, skills, languages</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events</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Quizzes, contests, questions, deadlines</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eventAttempts</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Attempt status, code, language, test results</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eventResults</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Final score, evaluated result, timestamp</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176" name="Google Shape;176;p19"/>
          <p:cNvSpPr/>
          <p:nvPr/>
        </p:nvSpPr>
        <p:spPr>
          <a:xfrm>
            <a:off x="4754880" y="987552"/>
            <a:ext cx="3886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Major Functional Modules</a:t>
            </a:r>
            <a:endParaRPr sz="1240">
              <a:solidFill>
                <a:schemeClr val="dk1"/>
              </a:solidFill>
              <a:latin typeface="Arial"/>
              <a:ea typeface="Arial"/>
              <a:cs typeface="Arial"/>
              <a:sym typeface="Arial"/>
            </a:endParaRPr>
          </a:p>
        </p:txBody>
      </p:sp>
      <p:graphicFrame>
        <p:nvGraphicFramePr>
          <p:cNvPr id="177" name="Google Shape;177;p19"/>
          <p:cNvGraphicFramePr/>
          <p:nvPr/>
        </p:nvGraphicFramePr>
        <p:xfrm>
          <a:off x="4754880" y="1298448"/>
          <a:ext cx="3000000" cy="3000000"/>
        </p:xfrm>
        <a:graphic>
          <a:graphicData uri="http://schemas.openxmlformats.org/drawingml/2006/table">
            <a:tbl>
              <a:tblPr>
                <a:noFill/>
                <a:tableStyleId>{64C0411A-2C98-4147-9FEC-7885B5909016}</a:tableStyleId>
              </a:tblPr>
              <a:tblGrid>
                <a:gridCol w="1280150"/>
                <a:gridCol w="2606050"/>
              </a:tblGrid>
              <a:tr h="310900">
                <a:tc>
                  <a:txBody>
                    <a:bodyPr/>
                    <a:lstStyle/>
                    <a:p>
                      <a:pPr indent="0" lvl="0" marL="0" marR="0" rtl="0" algn="ctr">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Module</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Primary Responsibility</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r>
              <a:tr h="438900">
                <a:tc>
                  <a:txBody>
                    <a:bodyPr/>
                    <a:lstStyle/>
                    <a:p>
                      <a:pPr indent="0" lvl="0" marL="0" marR="0" rtl="0" algn="l">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User Interface</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Render pages, handle inputs and routing</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Client Models</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Layout, states and performance control</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State Models</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Participants, submissions, leaderboard, profile</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Backend API</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Routing, workflow, services and validation</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Security Module</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JWT creation, bcryptjs and role middleware</a:t>
                      </a:r>
                      <a:endParaRPr sz="1020" u="none" cap="none" strike="noStrike">
                        <a:latin typeface="Arial"/>
                        <a:ea typeface="Arial"/>
                        <a:cs typeface="Arial"/>
                        <a:sym typeface="Arial"/>
                      </a:endParaRPr>
                    </a:p>
                  </a:txBody>
                  <a:tcPr marT="41150" marB="41150" marR="41150" marL="41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178" name="Google Shape;178;p19"/>
          <p:cNvSpPr/>
          <p:nvPr/>
        </p:nvSpPr>
        <p:spPr>
          <a:xfrm>
            <a:off x="594360" y="4315968"/>
            <a:ext cx="8046720" cy="1325880"/>
          </a:xfrm>
          <a:prstGeom prst="rect">
            <a:avLst/>
          </a:prstGeom>
          <a:noFill/>
          <a:ln>
            <a:noFill/>
          </a:ln>
        </p:spPr>
        <p:txBody>
          <a:bodyPr anchorCtr="0" anchor="t" bIns="750" lIns="750" spcFirstLastPara="1" rIns="750" wrap="square" tIns="750">
            <a:noAutofit/>
          </a:bodyPr>
          <a:lstStyle/>
          <a:p>
            <a:pPr indent="0" lvl="0" marL="0" marR="0" rtl="0" algn="l">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How Data Supports the Platform</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User, event, attempt, result, proctoring, article, and problem-bank records are stored centrally in Firestore.</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This structure supports result tracking, audit review, leaderboard generation, profile updates, and long-term academic performance history.</a:t>
            </a:r>
            <a:br>
              <a:rPr lang="en-US" sz="1400">
                <a:solidFill>
                  <a:srgbClr val="000000"/>
                </a:solidFill>
                <a:latin typeface="Arial"/>
                <a:ea typeface="Arial"/>
                <a:cs typeface="Arial"/>
                <a:sym typeface="Arial"/>
              </a:rPr>
            </a:br>
            <a:endParaRPr sz="124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0"/>
          <p:cNvSpPr/>
          <p:nvPr/>
        </p:nvSpPr>
        <p:spPr>
          <a:xfrm>
            <a:off x="274320" y="155448"/>
            <a:ext cx="85953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Arial Narrow"/>
              <a:buNone/>
            </a:pPr>
            <a:r>
              <a:rPr lang="en-US" sz="3400">
                <a:solidFill>
                  <a:srgbClr val="000000"/>
                </a:solidFill>
                <a:latin typeface="Arial Narrow"/>
                <a:ea typeface="Arial Narrow"/>
                <a:cs typeface="Arial Narrow"/>
                <a:sym typeface="Arial Narrow"/>
              </a:rPr>
              <a:t>Result Analysis and Future Enhancement</a:t>
            </a:r>
            <a:endParaRPr sz="3000">
              <a:solidFill>
                <a:schemeClr val="dk1"/>
              </a:solidFill>
              <a:latin typeface="Arial"/>
              <a:ea typeface="Arial"/>
              <a:cs typeface="Arial"/>
              <a:sym typeface="Arial"/>
            </a:endParaRPr>
          </a:p>
        </p:txBody>
      </p:sp>
      <p:sp>
        <p:nvSpPr>
          <p:cNvPr id="185" name="Google Shape;185;p20"/>
          <p:cNvSpPr/>
          <p:nvPr/>
        </p:nvSpPr>
        <p:spPr>
          <a:xfrm>
            <a:off x="228600" y="868680"/>
            <a:ext cx="8686800" cy="5532120"/>
          </a:xfrm>
          <a:prstGeom prst="rect">
            <a:avLst/>
          </a:prstGeom>
          <a:solidFill>
            <a:srgbClr val="FFFFFF">
              <a:alpha val="0"/>
            </a:srgbClr>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6" name="Google Shape;186;p20"/>
          <p:cNvSpPr/>
          <p:nvPr/>
        </p:nvSpPr>
        <p:spPr>
          <a:xfrm>
            <a:off x="411480" y="1051560"/>
            <a:ext cx="8321040" cy="5166360"/>
          </a:xfrm>
          <a:prstGeom prst="rect">
            <a:avLst/>
          </a:prstGeom>
          <a:noFill/>
          <a:ln>
            <a:noFill/>
          </a:ln>
        </p:spPr>
        <p:txBody>
          <a:bodyPr anchorCtr="0" anchor="t" bIns="750" lIns="750" spcFirstLastPara="1" rIns="750" wrap="square" tIns="750">
            <a:noAutofit/>
          </a:bodyPr>
          <a:lstStyle/>
          <a:p>
            <a:pPr indent="0" lvl="0" marL="0" marR="0" rtl="0" algn="l">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Result Analysis</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The implementation shows that cloud services and modular backend design can support scalable academic assessment systems.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JWT authentication, role-based middleware, and httpOnly cookies help maintain controlled access across student, admin, and super admin workflows.</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The unified platform reduces dependency on disconnected tools for quizzes, coding contests, proctoring, profile management, and leaderboards.</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Conclusion</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Syntax provides a complete full-stack solution for institutional quizzes and coding contests using React, Express.js, Firebase Firestore, Judge0, and proctoring logic.</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The route-controller-service structure makes the project suitable for future extension and maintenance.</a:t>
            </a:r>
            <a:br>
              <a:rPr lang="en-US" sz="1400">
                <a:solidFill>
                  <a:srgbClr val="000000"/>
                </a:solidFill>
                <a:latin typeface="Arial"/>
                <a:ea typeface="Arial"/>
                <a:cs typeface="Arial"/>
                <a:sym typeface="Arial"/>
              </a:rPr>
            </a:br>
            <a:br>
              <a:rPr lang="en-US" sz="1400">
                <a:solidFill>
                  <a:srgbClr val="000000"/>
                </a:solidFill>
                <a:latin typeface="Arial"/>
                <a:ea typeface="Arial"/>
                <a:cs typeface="Arial"/>
                <a:sym typeface="Arial"/>
              </a:rPr>
            </a:br>
            <a:r>
              <a:rPr b="1" lang="en-US" sz="1400">
                <a:solidFill>
                  <a:srgbClr val="000000"/>
                </a:solidFill>
                <a:latin typeface="Arial"/>
                <a:ea typeface="Arial"/>
                <a:cs typeface="Arial"/>
                <a:sym typeface="Arial"/>
              </a:rPr>
              <a:t>Future Enhancement</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 Live classroom monitoring dashboards, richer performance analytics, plagiarism detection, automated certificates, email notifications, mobile application support, LMS integrations, stronger audit logs, and flexible contest templates.</a:t>
            </a:r>
            <a:br>
              <a:rPr lang="en-US" sz="1400">
                <a:solidFill>
                  <a:srgbClr val="000000"/>
                </a:solidFill>
                <a:latin typeface="Arial"/>
                <a:ea typeface="Arial"/>
                <a:cs typeface="Arial"/>
                <a:sym typeface="Arial"/>
              </a:rPr>
            </a:br>
            <a:endParaRPr sz="1240">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pic>
        <p:nvPicPr>
          <p:cNvPr descr="/mnt/data/syntax_assets/orig_p12.png" id="192" name="Google Shape;192;p21"/>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